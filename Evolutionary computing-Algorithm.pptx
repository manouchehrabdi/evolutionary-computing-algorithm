
<file path=[Content_Types].xml><?xml version="1.0" encoding="utf-8"?>
<Types xmlns="http://schemas.openxmlformats.org/package/2006/content-types">
  <Default Extension="fntdata" ContentType="application/x-fontdata"/>
  <Default Extension="jfif"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media/image4.jpg" ContentType="image/unknown"/>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0" r:id="rId1"/>
  </p:sldMasterIdLst>
  <p:notesMasterIdLst>
    <p:notesMasterId r:id="rId20"/>
  </p:notesMasterIdLst>
  <p:handoutMasterIdLst>
    <p:handoutMasterId r:id="rId21"/>
  </p:handoutMasterIdLst>
  <p:sldIdLst>
    <p:sldId id="441" r:id="rId2"/>
    <p:sldId id="478" r:id="rId3"/>
    <p:sldId id="471" r:id="rId4"/>
    <p:sldId id="473" r:id="rId5"/>
    <p:sldId id="480" r:id="rId6"/>
    <p:sldId id="491" r:id="rId7"/>
    <p:sldId id="492" r:id="rId8"/>
    <p:sldId id="493" r:id="rId9"/>
    <p:sldId id="494" r:id="rId10"/>
    <p:sldId id="495" r:id="rId11"/>
    <p:sldId id="496" r:id="rId12"/>
    <p:sldId id="497" r:id="rId13"/>
    <p:sldId id="498" r:id="rId14"/>
    <p:sldId id="499" r:id="rId15"/>
    <p:sldId id="500" r:id="rId16"/>
    <p:sldId id="501" r:id="rId17"/>
    <p:sldId id="479" r:id="rId18"/>
    <p:sldId id="490" r:id="rId19"/>
  </p:sldIdLst>
  <p:sldSz cx="9144000" cy="5143500" type="screen16x9"/>
  <p:notesSz cx="6797675" cy="9929813"/>
  <p:embeddedFontLst>
    <p:embeddedFont>
      <p:font typeface="Arial Black" panose="020B0A04020102020204" pitchFamily="34" charset="0"/>
      <p:bold r:id="rId22"/>
    </p:embeddedFont>
    <p:embeddedFont>
      <p:font typeface="B Nazanin" panose="00000400000000000000" pitchFamily="2" charset="-78"/>
      <p:regular r:id="rId23"/>
      <p:bold r:id="rId24"/>
    </p:embeddedFont>
    <p:embeddedFont>
      <p:font typeface="B Titr" panose="00000700000000000000" pitchFamily="2" charset="-78"/>
      <p:bold r:id="rId25"/>
    </p:embeddedFont>
    <p:embeddedFont>
      <p:font typeface="Cambria Math" panose="02040503050406030204" pitchFamily="18" charset="0"/>
      <p:regular r:id="rId26"/>
    </p:embeddedFont>
    <p:embeddedFont>
      <p:font typeface="Fira Sans Extra Condensed" panose="020B0503050000020004" pitchFamily="34" charset="0"/>
      <p:regular r:id="rId27"/>
      <p:bold r:id="rId28"/>
    </p:embeddedFont>
    <p:embeddedFont>
      <p:font typeface="IranNastaliq" panose="02000503000000020003" pitchFamily="2" charset="0"/>
      <p:regular r:id="rId29"/>
    </p:embeddedFont>
    <p:embeddedFont>
      <p:font typeface="Roboto" panose="02000000000000000000" pitchFamily="2" charset="0"/>
      <p:regular r:id="rId30"/>
      <p:bold r:id="rId31"/>
      <p:italic r:id="rId32"/>
      <p:boldItalic r:id="rId33"/>
    </p:embeddedFont>
    <p:embeddedFont>
      <p:font typeface="Shabnam" panose="020B0604020202020204" charset="-78"/>
      <p:regular r:id="rId34"/>
      <p:bold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nouchehr Abdi" initials="MA" lastIdx="1" clrIdx="0">
    <p:extLst>
      <p:ext uri="{19B8F6BF-5375-455C-9EA6-DF929625EA0E}">
        <p15:presenceInfo xmlns:p15="http://schemas.microsoft.com/office/powerpoint/2012/main" userId="7f4efd097da66fe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D83ED"/>
    <a:srgbClr val="1346B9"/>
    <a:srgbClr val="9EB5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F2A0FC3-6CE7-41D7-AAEC-77FEFD00A729}">
  <a:tblStyle styleId="{FF2A0FC3-6CE7-41D7-AAEC-77FEFD00A72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3135" autoAdjust="0"/>
  </p:normalViewPr>
  <p:slideViewPr>
    <p:cSldViewPr snapToGrid="0">
      <p:cViewPr varScale="1">
        <p:scale>
          <a:sx n="141" d="100"/>
          <a:sy n="141" d="100"/>
        </p:scale>
        <p:origin x="726" y="114"/>
      </p:cViewPr>
      <p:guideLst/>
    </p:cSldViewPr>
  </p:slideViewPr>
  <p:notesTextViewPr>
    <p:cViewPr>
      <p:scale>
        <a:sx n="3" d="2"/>
        <a:sy n="3" d="2"/>
      </p:scale>
      <p:origin x="0" y="0"/>
    </p:cViewPr>
  </p:notesTextViewPr>
  <p:notesViewPr>
    <p:cSldViewPr snapToGrid="0">
      <p:cViewPr varScale="1">
        <p:scale>
          <a:sx n="60" d="100"/>
          <a:sy n="60" d="100"/>
        </p:scale>
        <p:origin x="3274" y="3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9" Type="http://schemas.openxmlformats.org/officeDocument/2006/relationships/theme" Target="theme/theme1.xml"/><Relationship Id="rId21" Type="http://schemas.openxmlformats.org/officeDocument/2006/relationships/handoutMaster" Target="handoutMasters/handoutMaster1.xml"/><Relationship Id="rId34" Type="http://schemas.openxmlformats.org/officeDocument/2006/relationships/font" Target="fonts/font1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font" Target="fonts/font12.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font" Target="fonts/font11.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36"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0.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font" Target="fonts/font9.fntdata"/><Relationship Id="rId35" Type="http://schemas.openxmlformats.org/officeDocument/2006/relationships/font" Target="fonts/font14.fntdata"/><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B6FD584-6372-532A-2661-8ED41C63F3AE}"/>
              </a:ext>
            </a:extLst>
          </p:cNvPr>
          <p:cNvSpPr>
            <a:spLocks noGrp="1"/>
          </p:cNvSpPr>
          <p:nvPr>
            <p:ph type="hdr" sz="quarter"/>
          </p:nvPr>
        </p:nvSpPr>
        <p:spPr>
          <a:xfrm>
            <a:off x="0" y="0"/>
            <a:ext cx="2945659" cy="498215"/>
          </a:xfrm>
          <a:prstGeom prst="rect">
            <a:avLst/>
          </a:prstGeom>
        </p:spPr>
        <p:txBody>
          <a:bodyPr vert="horz" lIns="91440" tIns="45720" rIns="91440" bIns="45720" rtlCol="0"/>
          <a:lstStyle>
            <a:lvl1pPr algn="l">
              <a:defRPr sz="1200"/>
            </a:lvl1pPr>
          </a:lstStyle>
          <a:p>
            <a:r>
              <a:rPr lang="en-US"/>
              <a:t>1</a:t>
            </a:r>
          </a:p>
        </p:txBody>
      </p:sp>
      <p:sp>
        <p:nvSpPr>
          <p:cNvPr id="3" name="Date Placeholder 2">
            <a:extLst>
              <a:ext uri="{FF2B5EF4-FFF2-40B4-BE49-F238E27FC236}">
                <a16:creationId xmlns:a16="http://schemas.microsoft.com/office/drawing/2014/main" id="{122122E0-C77B-6B1E-C588-6E10FC63C3B5}"/>
              </a:ext>
            </a:extLst>
          </p:cNvPr>
          <p:cNvSpPr>
            <a:spLocks noGrp="1"/>
          </p:cNvSpPr>
          <p:nvPr>
            <p:ph type="dt" sz="quarter" idx="1"/>
          </p:nvPr>
        </p:nvSpPr>
        <p:spPr>
          <a:xfrm>
            <a:off x="3850443" y="0"/>
            <a:ext cx="2945659" cy="498215"/>
          </a:xfrm>
          <a:prstGeom prst="rect">
            <a:avLst/>
          </a:prstGeom>
        </p:spPr>
        <p:txBody>
          <a:bodyPr vert="horz" lIns="91440" tIns="45720" rIns="91440" bIns="45720" rtlCol="0"/>
          <a:lstStyle>
            <a:lvl1pPr algn="r">
              <a:defRPr sz="1200"/>
            </a:lvl1pPr>
          </a:lstStyle>
          <a:p>
            <a:fld id="{7AD3FA1D-8910-476F-A6DD-2869201C2EDA}" type="datetimeFigureOut">
              <a:rPr lang="en-US" smtClean="0"/>
              <a:t>10/19/2026</a:t>
            </a:fld>
            <a:endParaRPr lang="en-US"/>
          </a:p>
        </p:txBody>
      </p:sp>
      <p:sp>
        <p:nvSpPr>
          <p:cNvPr id="4" name="Footer Placeholder 3">
            <a:extLst>
              <a:ext uri="{FF2B5EF4-FFF2-40B4-BE49-F238E27FC236}">
                <a16:creationId xmlns:a16="http://schemas.microsoft.com/office/drawing/2014/main" id="{4074B922-0DF7-7A15-7C38-F695C93DCB54}"/>
              </a:ext>
            </a:extLst>
          </p:cNvPr>
          <p:cNvSpPr>
            <a:spLocks noGrp="1"/>
          </p:cNvSpPr>
          <p:nvPr>
            <p:ph type="ftr" sz="quarter" idx="2"/>
          </p:nvPr>
        </p:nvSpPr>
        <p:spPr>
          <a:xfrm>
            <a:off x="0" y="9431600"/>
            <a:ext cx="2945659" cy="498214"/>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401F9BB-E4CB-DB1B-C6A1-21810A256EB3}"/>
              </a:ext>
            </a:extLst>
          </p:cNvPr>
          <p:cNvSpPr>
            <a:spLocks noGrp="1"/>
          </p:cNvSpPr>
          <p:nvPr>
            <p:ph type="sldNum" sz="quarter" idx="3"/>
          </p:nvPr>
        </p:nvSpPr>
        <p:spPr>
          <a:xfrm>
            <a:off x="3850443" y="9431600"/>
            <a:ext cx="2945659" cy="498214"/>
          </a:xfrm>
          <a:prstGeom prst="rect">
            <a:avLst/>
          </a:prstGeom>
        </p:spPr>
        <p:txBody>
          <a:bodyPr vert="horz" lIns="91440" tIns="45720" rIns="91440" bIns="45720" rtlCol="0" anchor="b"/>
          <a:lstStyle>
            <a:lvl1pPr algn="r">
              <a:defRPr sz="1200"/>
            </a:lvl1pPr>
          </a:lstStyle>
          <a:p>
            <a:fld id="{A421DD29-3242-459F-8733-CEDBA1069CB3}" type="slidenum">
              <a:rPr lang="en-US" smtClean="0"/>
              <a:t>‹#›</a:t>
            </a:fld>
            <a:endParaRPr lang="en-US"/>
          </a:p>
        </p:txBody>
      </p:sp>
    </p:spTree>
    <p:extLst>
      <p:ext uri="{BB962C8B-B14F-4D97-AF65-F5344CB8AC3E}">
        <p14:creationId xmlns:p14="http://schemas.microsoft.com/office/powerpoint/2010/main" val="1514336271"/>
      </p:ext>
    </p:extLst>
  </p:cSld>
  <p:clrMap bg1="lt1" tx1="dk1" bg2="lt2" tx2="dk2" accent1="accent1" accent2="accent2" accent3="accent3" accent4="accent4" accent5="accent5" accent6="accent6" hlink="hlink" folHlink="folHlink"/>
  <p:hf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79768" y="4716661"/>
            <a:ext cx="5438140" cy="4468416"/>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dirty="0"/>
          </a:p>
        </p:txBody>
      </p:sp>
    </p:spTree>
  </p:cSld>
  <p:clrMap bg1="lt1" tx1="dk1" bg2="dk2" tx2="lt2" accent1="accent1" accent2="accent2" accent3="accent3" accent4="accent4" accent5="accent5" accent6="accent6" hlink="hlink" folHlink="folHlink"/>
  <p:hf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B Titr" panose="00000700000000000000" pitchFamily="2" charset="-78"/>
        <a:cs typeface="B Titr" panose="00000700000000000000" pitchFamily="2" charset="-78"/>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CC680AC0-F518-5F8D-FEBE-1BAED613AF7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6887FA03-D2FB-05D8-305D-B6C3130E3CE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D4440D48-6F80-B8C7-5FBF-2136AFBB87E0}"/>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596257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CC680AC0-F518-5F8D-FEBE-1BAED613AF7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6887FA03-D2FB-05D8-305D-B6C3130E3CE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D4440D48-6F80-B8C7-5FBF-2136AFBB87E0}"/>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16499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897DA4B5-F69C-A8ED-C09D-1813E33591E3}"/>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035C2006-3FD0-6CEA-237C-CCD2CD837887}"/>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83A226F3-EAA8-5142-79D3-80C09BCE87AB}"/>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061809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E204A57A-CD20-A018-142C-B638E300EA85}"/>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D45F5E37-F87C-A177-3156-912F67B2302C}"/>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BBC083AC-6865-58CA-1E9E-AA7FA45D2ACF}"/>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724245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A3E0DF5F-0FBC-4360-9CCE-A8B82E70E0B2}"/>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E24A6347-9D27-3A69-75D3-3974352B3A2F}"/>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757D6294-66D4-9BAD-E4D8-3DBBFD4B0807}"/>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25263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D9FBA731-2F33-F7AD-B847-DE3B91F9F67B}"/>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742B796B-7300-4A7D-4E24-70614A68908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FD487C01-A578-611F-9F5E-126CBA424DA6}"/>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041315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F6E5F504-4AE6-EBCF-4E4B-790C8BE87A10}"/>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50E3CBE9-A069-FB15-E345-7B4438F08F8F}"/>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E04FA929-17C0-6F6B-EA6B-27552B0A00F8}"/>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13773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A233AA2A-8426-36E4-AA66-7B5DD570A908}"/>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FBC260DC-EB00-14E9-4EFB-592C0CE6E1F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5B7663F8-AC5B-57B4-792B-A491714A6622}"/>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57606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DAF6A17C-2BE7-090B-6679-EDE629B71FB2}"/>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1802E0E1-6958-9DEA-B9FD-F0D46770C35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B2F210C1-E3F6-8060-0BB9-6864591E5F62}"/>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343497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5D13D531-4964-7657-00E2-D1B3A378AC21}"/>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3F47696A-8F08-86A6-34E1-DA58F958FF75}"/>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BF771418-236D-7F29-0BD2-B8BC8AFA20B9}"/>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3298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9A77F22C-0F4D-A920-733C-8EA4E734B699}"/>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46E3B333-964B-2E3C-413E-9CDDE5496EE9}"/>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C593E17B-0F02-4625-9446-EAE2EE72253D}"/>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751757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BA551A23-1068-5DB8-4DFB-4251F36DF46D}"/>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6445F2ED-B688-352A-D1DF-1656445CA0F5}"/>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88E89B50-E482-E129-7F90-DED867A732D5}"/>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81923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27AA7CC8-E967-3C94-491A-BB1CE79B6881}"/>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BB580368-F8AB-ECE0-49FA-7D2AECF54FC0}"/>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AA72AC73-6735-7F1C-536E-8C50B37A48CB}"/>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745476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3B66E85B-DA43-C451-925F-2030008FD81F}"/>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E8E455F1-5BC8-01ED-2C06-33D170EC3AEE}"/>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E908C6A6-44F5-6455-0E0A-A6EC92BD5C2F}"/>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77779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C790B45A-95E7-E44C-FB4B-6D7972812634}"/>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91A50CB9-B26C-184A-4AD8-9F588A797375}"/>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C5D77F07-D17B-FA06-2D4D-C1F7DA6FBEF7}"/>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34798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7670A27E-A357-94B3-B35C-269C447D5BD3}"/>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CBE1EFD1-13E7-5DC4-FC11-682522DDEB2E}"/>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1AED3137-2D29-9AD5-4DCE-43B6651E413F}"/>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642794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79E3A7A6-58F4-57B1-1933-3300AE7D293F}"/>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AF5EDBF8-615C-5D4C-DA82-071428B1782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F9579BF3-696B-D2BA-DA5F-906ED0431FC7}"/>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368934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8392E53A-04DE-6189-C819-5F3FDF8A890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1F723371-881E-3C10-1F70-7BCA6E6F0CB1}"/>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DEADFFE4-F44B-286E-CF7D-E0FA8EBEE276}"/>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2622938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userDrawn="1">
  <p:cSld name="SECTION_HEADER">
    <p:spTree>
      <p:nvGrpSpPr>
        <p:cNvPr id="1" name="Shape 11"/>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C4B893A-DD98-48F9-A657-6D369743C7AB}"/>
              </a:ext>
            </a:extLst>
          </p:cNvPr>
          <p:cNvSpPr/>
          <p:nvPr userDrawn="1"/>
        </p:nvSpPr>
        <p:spPr>
          <a:xfrm>
            <a:off x="60960" y="219927"/>
            <a:ext cx="9035627" cy="781056"/>
          </a:xfrm>
          <a:prstGeom prst="roundRect">
            <a:avLst/>
          </a:prstGeom>
          <a:solidFill>
            <a:srgbClr val="002060"/>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r" rtl="1"/>
            <a:endParaRPr lang="en-US" dirty="0"/>
          </a:p>
        </p:txBody>
      </p:sp>
      <p:pic>
        <p:nvPicPr>
          <p:cNvPr id="8" name="Picture 7">
            <a:extLst>
              <a:ext uri="{FF2B5EF4-FFF2-40B4-BE49-F238E27FC236}">
                <a16:creationId xmlns:a16="http://schemas.microsoft.com/office/drawing/2014/main" id="{FE48B478-F4DC-597C-BD43-F6A25B544E82}"/>
              </a:ext>
            </a:extLst>
          </p:cNvPr>
          <p:cNvPicPr>
            <a:picLocks noChangeAspect="1"/>
          </p:cNvPicPr>
          <p:nvPr userDrawn="1"/>
        </p:nvPicPr>
        <p:blipFill>
          <a:blip r:embed="rId2"/>
          <a:stretch>
            <a:fillRect/>
          </a:stretch>
        </p:blipFill>
        <p:spPr>
          <a:xfrm>
            <a:off x="8366171" y="131209"/>
            <a:ext cx="630848" cy="1182155"/>
          </a:xfrm>
          <a:prstGeom prst="rect">
            <a:avLst/>
          </a:prstGeom>
        </p:spPr>
      </p:pic>
      <p:sp>
        <p:nvSpPr>
          <p:cNvPr id="9" name="Rectangle 8">
            <a:extLst>
              <a:ext uri="{FF2B5EF4-FFF2-40B4-BE49-F238E27FC236}">
                <a16:creationId xmlns:a16="http://schemas.microsoft.com/office/drawing/2014/main" id="{C800FC4B-8781-673E-AC9B-0896CDDF4EA2}"/>
              </a:ext>
            </a:extLst>
          </p:cNvPr>
          <p:cNvSpPr/>
          <p:nvPr userDrawn="1"/>
        </p:nvSpPr>
        <p:spPr>
          <a:xfrm flipV="1">
            <a:off x="521552" y="4923573"/>
            <a:ext cx="7720660" cy="4849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D51AB5FD-E916-F0E9-D63F-97735542F9C8}"/>
              </a:ext>
            </a:extLst>
          </p:cNvPr>
          <p:cNvSpPr/>
          <p:nvPr userDrawn="1"/>
        </p:nvSpPr>
        <p:spPr>
          <a:xfrm>
            <a:off x="115910" y="4780105"/>
            <a:ext cx="405633" cy="315310"/>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fld id="{3CCB9696-2349-4258-A3BF-F97C020D93B2}" type="slidenum">
              <a:rPr lang="en-US" sz="1000" b="1" smtClean="0">
                <a:solidFill>
                  <a:schemeClr val="accent2">
                    <a:lumMod val="40000"/>
                    <a:lumOff val="60000"/>
                  </a:schemeClr>
                </a:solidFill>
              </a:rPr>
              <a:t>‹#›</a:t>
            </a:fld>
            <a:endParaRPr lang="en-US" b="1" dirty="0">
              <a:solidFill>
                <a:schemeClr val="accent2">
                  <a:lumMod val="40000"/>
                  <a:lumOff val="60000"/>
                </a:schemeClr>
              </a:solidFill>
            </a:endParaRPr>
          </a:p>
        </p:txBody>
      </p:sp>
      <p:pic>
        <p:nvPicPr>
          <p:cNvPr id="5" name="Picture 4">
            <a:extLst>
              <a:ext uri="{FF2B5EF4-FFF2-40B4-BE49-F238E27FC236}">
                <a16:creationId xmlns:a16="http://schemas.microsoft.com/office/drawing/2014/main" id="{1A22AB9B-FDC7-703B-9BC1-2C0124A2A5F3}"/>
              </a:ext>
            </a:extLst>
          </p:cNvPr>
          <p:cNvPicPr>
            <a:picLocks noChangeAspect="1"/>
          </p:cNvPicPr>
          <p:nvPr userDrawn="1"/>
        </p:nvPicPr>
        <p:blipFill>
          <a:blip r:embed="rId3"/>
          <a:stretch>
            <a:fillRect/>
          </a:stretch>
        </p:blipFill>
        <p:spPr>
          <a:xfrm>
            <a:off x="60960" y="219927"/>
            <a:ext cx="1390845" cy="781056"/>
          </a:xfrm>
          <a:prstGeom prst="rect">
            <a:avLst/>
          </a:prstGeom>
        </p:spPr>
      </p:pic>
      <p:sp>
        <p:nvSpPr>
          <p:cNvPr id="7" name="TextBox 6">
            <a:extLst>
              <a:ext uri="{FF2B5EF4-FFF2-40B4-BE49-F238E27FC236}">
                <a16:creationId xmlns:a16="http://schemas.microsoft.com/office/drawing/2014/main" id="{B565FA95-2670-B44A-C3B0-25DF1568FD2B}"/>
              </a:ext>
            </a:extLst>
          </p:cNvPr>
          <p:cNvSpPr txBox="1"/>
          <p:nvPr userDrawn="1"/>
        </p:nvSpPr>
        <p:spPr>
          <a:xfrm>
            <a:off x="8184741" y="4855485"/>
            <a:ext cx="1410020" cy="184666"/>
          </a:xfrm>
          <a:prstGeom prst="rect">
            <a:avLst/>
          </a:prstGeom>
          <a:noFill/>
        </p:spPr>
        <p:txBody>
          <a:bodyPr wrap="square">
            <a:spAutoFit/>
          </a:bodyPr>
          <a:lstStyle/>
          <a:p>
            <a:r>
              <a:rPr lang="en-US" sz="600" b="1" i="0" dirty="0">
                <a:solidFill>
                  <a:schemeClr val="tx1"/>
                </a:solidFill>
                <a:effectLst/>
                <a:latin typeface="Estedad"/>
              </a:rPr>
              <a:t>Evolutionary Algorithms</a:t>
            </a:r>
            <a:endParaRPr lang="en-US" sz="600" dirty="0">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
        <p:cNvGrpSpPr/>
        <p:nvPr/>
      </p:nvGrpSpPr>
      <p:grpSpPr>
        <a:xfrm>
          <a:off x="0" y="0"/>
          <a:ext cx="0" cy="0"/>
          <a:chOff x="0" y="0"/>
          <a:chExt cx="0" cy="0"/>
        </a:xfrm>
      </p:grpSpPr>
      <p:sp>
        <p:nvSpPr>
          <p:cNvPr id="14" name="Google Shape;14;p4"/>
          <p:cNvSpPr txBox="1">
            <a:spLocks noGrp="1"/>
          </p:cNvSpPr>
          <p:nvPr>
            <p:ph type="title"/>
          </p:nvPr>
        </p:nvSpPr>
        <p:spPr>
          <a:xfrm>
            <a:off x="457200" y="411475"/>
            <a:ext cx="8229600" cy="371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2800"/>
              <a:buNone/>
              <a:defRPr b="1">
                <a:cs typeface="B Titr" panose="00000700000000000000" pitchFamily="2" charset="-78"/>
              </a:defRPr>
            </a:lvl1pPr>
            <a:lvl2pPr lvl="1">
              <a:spcBef>
                <a:spcPts val="0"/>
              </a:spcBef>
              <a:spcAft>
                <a:spcPts val="0"/>
              </a:spcAft>
              <a:buSzPts val="2800"/>
              <a:buNone/>
              <a:defRPr b="1"/>
            </a:lvl2pPr>
            <a:lvl3pPr lvl="2">
              <a:spcBef>
                <a:spcPts val="0"/>
              </a:spcBef>
              <a:spcAft>
                <a:spcPts val="0"/>
              </a:spcAft>
              <a:buSzPts val="2800"/>
              <a:buNone/>
              <a:defRPr b="1"/>
            </a:lvl3pPr>
            <a:lvl4pPr lvl="3">
              <a:spcBef>
                <a:spcPts val="0"/>
              </a:spcBef>
              <a:spcAft>
                <a:spcPts val="0"/>
              </a:spcAft>
              <a:buSzPts val="2800"/>
              <a:buNone/>
              <a:defRPr b="1"/>
            </a:lvl4pPr>
            <a:lvl5pPr lvl="4">
              <a:spcBef>
                <a:spcPts val="0"/>
              </a:spcBef>
              <a:spcAft>
                <a:spcPts val="0"/>
              </a:spcAft>
              <a:buSzPts val="2800"/>
              <a:buNone/>
              <a:defRPr b="1"/>
            </a:lvl5pPr>
            <a:lvl6pPr lvl="5">
              <a:spcBef>
                <a:spcPts val="0"/>
              </a:spcBef>
              <a:spcAft>
                <a:spcPts val="0"/>
              </a:spcAft>
              <a:buSzPts val="2800"/>
              <a:buNone/>
              <a:defRPr b="1"/>
            </a:lvl6pPr>
            <a:lvl7pPr lvl="6">
              <a:spcBef>
                <a:spcPts val="0"/>
              </a:spcBef>
              <a:spcAft>
                <a:spcPts val="0"/>
              </a:spcAft>
              <a:buSzPts val="2800"/>
              <a:buNone/>
              <a:defRPr b="1"/>
            </a:lvl7pPr>
            <a:lvl8pPr lvl="7">
              <a:spcBef>
                <a:spcPts val="0"/>
              </a:spcBef>
              <a:spcAft>
                <a:spcPts val="0"/>
              </a:spcAft>
              <a:buSzPts val="2800"/>
              <a:buNone/>
              <a:defRPr b="1"/>
            </a:lvl8pPr>
            <a:lvl9pPr lvl="8">
              <a:spcBef>
                <a:spcPts val="0"/>
              </a:spcBef>
              <a:spcAft>
                <a:spcPts val="0"/>
              </a:spcAft>
              <a:buSzPts val="2800"/>
              <a:buNone/>
              <a:defRPr b="1"/>
            </a:lvl9pPr>
          </a:lstStyle>
          <a:p>
            <a:endParaRPr dirty="0"/>
          </a:p>
        </p:txBody>
      </p:sp>
      <p:sp>
        <p:nvSpPr>
          <p:cNvPr id="15" name="Google Shape;15;p4"/>
          <p:cNvSpPr txBox="1">
            <a:spLocks noGrp="1"/>
          </p:cNvSpPr>
          <p:nvPr>
            <p:ph type="body" idx="1"/>
          </p:nvPr>
        </p:nvSpPr>
        <p:spPr>
          <a:xfrm>
            <a:off x="457200" y="1247950"/>
            <a:ext cx="8229600" cy="30291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a:latin typeface="Shabnam" panose="020B0603030804020204" pitchFamily="34" charset="-78"/>
                <a:cs typeface="Shabnam" panose="020B0603030804020204" pitchFamily="34" charset="-78"/>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6"/>
        <p:cNvGrpSpPr/>
        <p:nvPr/>
      </p:nvGrpSpPr>
      <p:grpSpPr>
        <a:xfrm>
          <a:off x="0" y="0"/>
          <a:ext cx="0" cy="0"/>
          <a:chOff x="0" y="0"/>
          <a:chExt cx="0" cy="0"/>
        </a:xfrm>
      </p:grpSpPr>
      <p:sp>
        <p:nvSpPr>
          <p:cNvPr id="17" name="Google Shape;17;p5"/>
          <p:cNvSpPr txBox="1">
            <a:spLocks noGrp="1"/>
          </p:cNvSpPr>
          <p:nvPr>
            <p:ph type="title"/>
          </p:nvPr>
        </p:nvSpPr>
        <p:spPr>
          <a:xfrm>
            <a:off x="457200" y="411475"/>
            <a:ext cx="8229600" cy="3714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cs typeface="B Titr" panose="00000700000000000000" pitchFamily="2" charset="-78"/>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dirty="0"/>
          </a:p>
        </p:txBody>
      </p:sp>
      <p:sp>
        <p:nvSpPr>
          <p:cNvPr id="18" name="Google Shape;18;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atin typeface="Shabnam" panose="020B0603030804020204" pitchFamily="34" charset="-78"/>
                <a:cs typeface="Shabnam" panose="020B0603030804020204" pitchFamily="34" charset="-78"/>
              </a:defRPr>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dirty="0"/>
          </a:p>
        </p:txBody>
      </p:sp>
      <p:sp>
        <p:nvSpPr>
          <p:cNvPr id="19" name="Google Shape;19;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atin typeface="Shabnam" panose="020B0603030804020204" pitchFamily="34" charset="-78"/>
                <a:cs typeface="Shabnam" panose="020B0603030804020204" pitchFamily="34" charset="-78"/>
              </a:defRPr>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2"/>
        <p:cNvGrpSpPr/>
        <p:nvPr/>
      </p:nvGrpSpPr>
      <p:grpSpPr>
        <a:xfrm>
          <a:off x="0" y="0"/>
          <a:ext cx="0" cy="0"/>
          <a:chOff x="0" y="0"/>
          <a:chExt cx="0" cy="0"/>
        </a:xfrm>
      </p:grpSpPr>
      <p:sp>
        <p:nvSpPr>
          <p:cNvPr id="23" name="Google Shape;23;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cs typeface="B Titr" panose="00000700000000000000" pitchFamily="2" charset="-78"/>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dirty="0"/>
          </a:p>
        </p:txBody>
      </p:sp>
      <p:sp>
        <p:nvSpPr>
          <p:cNvPr id="24" name="Google Shape;24;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atin typeface="Shabnam" panose="020B0603030804020204" pitchFamily="34" charset="-78"/>
                <a:cs typeface="Shabnam" panose="020B0603030804020204" pitchFamily="34" charset="-78"/>
              </a:defRPr>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5"/>
        <p:cNvGrpSpPr/>
        <p:nvPr/>
      </p:nvGrpSpPr>
      <p:grpSpPr>
        <a:xfrm>
          <a:off x="0" y="0"/>
          <a:ext cx="0" cy="0"/>
          <a:chOff x="0" y="0"/>
          <a:chExt cx="0" cy="0"/>
        </a:xfrm>
      </p:grpSpPr>
      <p:sp>
        <p:nvSpPr>
          <p:cNvPr id="26" name="Google Shape;26;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cs typeface="B Titr" panose="00000700000000000000" pitchFamily="2" charset="-78"/>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7"/>
        <p:cNvGrpSpPr/>
        <p:nvPr/>
      </p:nvGrpSpPr>
      <p:grpSpPr>
        <a:xfrm>
          <a:off x="0" y="0"/>
          <a:ext cx="0" cy="0"/>
          <a:chOff x="0" y="0"/>
          <a:chExt cx="0" cy="0"/>
        </a:xfrm>
      </p:grpSpPr>
      <p:sp>
        <p:nvSpPr>
          <p:cNvPr id="28" name="Google Shape;28;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cs typeface="B Titr" panose="00000700000000000000" pitchFamily="2" charset="-78"/>
            </a:endParaRPr>
          </a:p>
        </p:txBody>
      </p:sp>
      <p:sp>
        <p:nvSpPr>
          <p:cNvPr id="29" name="Google Shape;29;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cs typeface="B Titr" panose="00000700000000000000" pitchFamily="2" charset="-78"/>
              </a:defRPr>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dirty="0"/>
          </a:p>
        </p:txBody>
      </p:sp>
      <p:sp>
        <p:nvSpPr>
          <p:cNvPr id="30" name="Google Shape;30;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atin typeface="Shabnam" panose="020B0603030804020204" pitchFamily="34" charset="-78"/>
                <a:cs typeface="Shabnam" panose="020B0603030804020204" pitchFamily="34" charset="-78"/>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dirty="0"/>
          </a:p>
        </p:txBody>
      </p:sp>
      <p:sp>
        <p:nvSpPr>
          <p:cNvPr id="31" name="Google Shape;31;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a:latin typeface="Shabnam" panose="020B0603030804020204" pitchFamily="34" charset="-78"/>
                <a:cs typeface="Shabnam" panose="020B0603030804020204" pitchFamily="34" charset="-78"/>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2"/>
        <p:cNvGrpSpPr/>
        <p:nvPr/>
      </p:nvGrpSpPr>
      <p:grpSpPr>
        <a:xfrm>
          <a:off x="0" y="0"/>
          <a:ext cx="0" cy="0"/>
          <a:chOff x="0" y="0"/>
          <a:chExt cx="0" cy="0"/>
        </a:xfrm>
      </p:grpSpPr>
      <p:sp>
        <p:nvSpPr>
          <p:cNvPr id="33" name="Google Shape;33;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400"/>
              <a:buNone/>
              <a:defRPr>
                <a:latin typeface="Shabnam" panose="020B0603030804020204" pitchFamily="34" charset="-78"/>
                <a:cs typeface="Shabnam" panose="020B0603030804020204" pitchFamily="34" charset="-78"/>
              </a:defRPr>
            </a:lvl1pPr>
          </a:lstStyle>
          <a:p>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4"/>
        <p:cNvGrpSpPr/>
        <p:nvPr/>
      </p:nvGrpSpPr>
      <p:grpSpPr>
        <a:xfrm>
          <a:off x="0" y="0"/>
          <a:ext cx="0" cy="0"/>
          <a:chOff x="0" y="0"/>
          <a:chExt cx="0" cy="0"/>
        </a:xfrm>
      </p:grpSpPr>
      <p:sp>
        <p:nvSpPr>
          <p:cNvPr id="35" name="Google Shape;3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cs typeface="B Titr" panose="00000700000000000000" pitchFamily="2" charset="-78"/>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rPr dirty="0"/>
              <a:t>xx%</a:t>
            </a:r>
          </a:p>
        </p:txBody>
      </p:sp>
      <p:sp>
        <p:nvSpPr>
          <p:cNvPr id="36" name="Google Shape;3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17500" algn="ctr">
              <a:spcBef>
                <a:spcPts val="0"/>
              </a:spcBef>
              <a:spcAft>
                <a:spcPts val="0"/>
              </a:spcAft>
              <a:buSzPts val="1400"/>
              <a:buChar char="●"/>
              <a:defRPr>
                <a:latin typeface="Shabnam" panose="020B0603030804020204" pitchFamily="34" charset="-78"/>
                <a:cs typeface="Shabnam" panose="020B0603030804020204" pitchFamily="34" charset="-78"/>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411475"/>
            <a:ext cx="8229600" cy="371400"/>
          </a:xfrm>
          <a:prstGeom prst="rect">
            <a:avLst/>
          </a:prstGeom>
          <a:noFill/>
          <a:ln>
            <a:noFill/>
          </a:ln>
        </p:spPr>
        <p:txBody>
          <a:bodyPr spcFirstLastPara="1" wrap="square" lIns="91425" tIns="91425" rIns="91425" bIns="91425" anchor="ctr" anchorCtr="0">
            <a:normAutofit/>
          </a:bodyPr>
          <a:lstStyle>
            <a:lvl1pPr lvl="0"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1pPr>
            <a:lvl2pPr lvl="1"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2pPr>
            <a:lvl3pPr lvl="2"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3pPr>
            <a:lvl4pPr lvl="3"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4pPr>
            <a:lvl5pPr lvl="4"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5pPr>
            <a:lvl6pPr lvl="5"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6pPr>
            <a:lvl7pPr lvl="6"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7pPr>
            <a:lvl8pPr lvl="7"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8pPr>
            <a:lvl9pPr lvl="8"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9pPr>
          </a:lstStyle>
          <a:p>
            <a:endParaRPr dirty="0"/>
          </a:p>
        </p:txBody>
      </p:sp>
      <p:sp>
        <p:nvSpPr>
          <p:cNvPr id="7" name="Google Shape;7;p1"/>
          <p:cNvSpPr txBox="1">
            <a:spLocks noGrp="1"/>
          </p:cNvSpPr>
          <p:nvPr>
            <p:ph type="body" idx="1"/>
          </p:nvPr>
        </p:nvSpPr>
        <p:spPr>
          <a:xfrm>
            <a:off x="457200" y="1152475"/>
            <a:ext cx="8229600" cy="3579600"/>
          </a:xfrm>
          <a:prstGeom prst="rect">
            <a:avLst/>
          </a:prstGeom>
          <a:noFill/>
          <a:ln>
            <a:noFill/>
          </a:ln>
        </p:spPr>
        <p:txBody>
          <a:bodyPr spcFirstLastPara="1" wrap="square" lIns="91425" tIns="91425" rIns="91425" bIns="91425" anchor="t" anchorCtr="0">
            <a:normAutofit/>
          </a:bodyPr>
          <a:lstStyle>
            <a:lvl1pPr marL="457200" lvl="0"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1pPr>
            <a:lvl2pPr marL="914400" lvl="1"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9pPr>
          </a:lstStyle>
          <a:p>
            <a:endParaRPr dirty="0"/>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B Titr" panose="00000700000000000000" pitchFamily="2" charset="-78"/>
          <a:cs typeface="B Titr" panose="00000700000000000000" pitchFamily="2" charset="-78"/>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Shabnam" panose="020B0603030804020204" pitchFamily="34" charset="-78"/>
          <a:ea typeface="Shabnam" panose="020B0603030804020204" pitchFamily="34" charset="-78"/>
          <a:cs typeface="Shabnam" panose="020B0603030804020204" pitchFamily="34" charset="-78"/>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jfi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www.sciencedirect.com/topics/biochemistry-genetics-and-molecular-biology/canis-lupu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5.jp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6.jfif"/><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7.jp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jpg"/></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B72641C-7904-27FC-4B03-B9738D08B07C}"/>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96C3DDC9-EF15-EDA6-9D3D-65F50105FAD4}"/>
              </a:ext>
            </a:extLst>
          </p:cNvPr>
          <p:cNvSpPr txBox="1"/>
          <p:nvPr/>
        </p:nvSpPr>
        <p:spPr>
          <a:xfrm>
            <a:off x="1394127" y="2115361"/>
            <a:ext cx="5910840" cy="646331"/>
          </a:xfrm>
          <a:prstGeom prst="rect">
            <a:avLst/>
          </a:prstGeom>
          <a:noFill/>
        </p:spPr>
        <p:txBody>
          <a:bodyPr wrap="square">
            <a:spAutoFit/>
          </a:bodyPr>
          <a:lstStyle/>
          <a:p>
            <a:pPr algn="ctr"/>
            <a:r>
              <a:rPr lang="fa-IR" sz="3600" b="1" dirty="0">
                <a:cs typeface="B Nazanin" panose="00000400000000000000" pitchFamily="2" charset="-78"/>
              </a:rPr>
              <a:t>انواع الگوریتم‌های تکاملی</a:t>
            </a:r>
            <a:endParaRPr lang="en-US" sz="3600" b="1" dirty="0">
              <a:cs typeface="B Nazanin" panose="00000400000000000000" pitchFamily="2" charset="-78"/>
            </a:endParaRPr>
          </a:p>
        </p:txBody>
      </p:sp>
      <p:sp>
        <p:nvSpPr>
          <p:cNvPr id="19" name="TextBox 18">
            <a:extLst>
              <a:ext uri="{FF2B5EF4-FFF2-40B4-BE49-F238E27FC236}">
                <a16:creationId xmlns:a16="http://schemas.microsoft.com/office/drawing/2014/main" id="{4DB14A15-4EF7-E986-00B6-9977D137D465}"/>
              </a:ext>
            </a:extLst>
          </p:cNvPr>
          <p:cNvSpPr txBox="1"/>
          <p:nvPr/>
        </p:nvSpPr>
        <p:spPr>
          <a:xfrm>
            <a:off x="3576397" y="490701"/>
            <a:ext cx="1361293" cy="400110"/>
          </a:xfrm>
          <a:prstGeom prst="rect">
            <a:avLst/>
          </a:prstGeom>
          <a:noFill/>
        </p:spPr>
        <p:txBody>
          <a:bodyPr wrap="square">
            <a:spAutoFit/>
          </a:bodyPr>
          <a:lstStyle/>
          <a:p>
            <a:pPr algn="ctr"/>
            <a:r>
              <a:rPr lang="fa-IR" sz="2000" dirty="0">
                <a:solidFill>
                  <a:schemeClr val="tx2"/>
                </a:solidFill>
                <a:latin typeface="IranNastaliq" panose="02000503000000020003" pitchFamily="2" charset="0"/>
                <a:cs typeface="IranNastaliq" panose="02000503000000020003" pitchFamily="2" charset="0"/>
              </a:rPr>
              <a:t>بسمه تعالی</a:t>
            </a:r>
            <a:endParaRPr lang="en-US" sz="2000" dirty="0">
              <a:solidFill>
                <a:schemeClr val="tx2"/>
              </a:solidFill>
              <a:latin typeface="IranNastaliq" panose="02000503000000020003" pitchFamily="2" charset="0"/>
              <a:cs typeface="IranNastaliq" panose="02000503000000020003" pitchFamily="2" charset="0"/>
            </a:endParaRPr>
          </a:p>
        </p:txBody>
      </p:sp>
      <p:sp>
        <p:nvSpPr>
          <p:cNvPr id="13" name="TextBox 12">
            <a:extLst>
              <a:ext uri="{FF2B5EF4-FFF2-40B4-BE49-F238E27FC236}">
                <a16:creationId xmlns:a16="http://schemas.microsoft.com/office/drawing/2014/main" id="{40D110AE-2EBF-5A2B-D669-12DC64EAC14C}"/>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10" name="TextBox 9">
            <a:extLst>
              <a:ext uri="{FF2B5EF4-FFF2-40B4-BE49-F238E27FC236}">
                <a16:creationId xmlns:a16="http://schemas.microsoft.com/office/drawing/2014/main" id="{8BB49645-2532-C763-8C95-82DE22FC7CE7}"/>
              </a:ext>
            </a:extLst>
          </p:cNvPr>
          <p:cNvSpPr txBox="1"/>
          <p:nvPr/>
        </p:nvSpPr>
        <p:spPr>
          <a:xfrm>
            <a:off x="2550160" y="2970672"/>
            <a:ext cx="4043680" cy="523220"/>
          </a:xfrm>
          <a:prstGeom prst="rect">
            <a:avLst/>
          </a:prstGeom>
          <a:noFill/>
        </p:spPr>
        <p:txBody>
          <a:bodyPr wrap="square">
            <a:spAutoFit/>
          </a:bodyPr>
          <a:lstStyle/>
          <a:p>
            <a:r>
              <a:rPr lang="en-US" sz="2800" b="1" i="0" dirty="0">
                <a:solidFill>
                  <a:schemeClr val="accent3"/>
                </a:solidFill>
                <a:effectLst/>
                <a:latin typeface="Estedad"/>
              </a:rPr>
              <a:t>Evolutionary Algorithms</a:t>
            </a:r>
            <a:endParaRPr lang="en-US" sz="2800" dirty="0">
              <a:solidFill>
                <a:schemeClr val="accent3"/>
              </a:solidFill>
            </a:endParaRPr>
          </a:p>
        </p:txBody>
      </p:sp>
    </p:spTree>
    <p:extLst>
      <p:ext uri="{BB962C8B-B14F-4D97-AF65-F5344CB8AC3E}">
        <p14:creationId xmlns:p14="http://schemas.microsoft.com/office/powerpoint/2010/main" val="881706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B72641C-7904-27FC-4B03-B9738D08B07C}"/>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40D110AE-2EBF-5A2B-D669-12DC64EAC14C}"/>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9" name="TextBox 8">
            <a:extLst>
              <a:ext uri="{FF2B5EF4-FFF2-40B4-BE49-F238E27FC236}">
                <a16:creationId xmlns:a16="http://schemas.microsoft.com/office/drawing/2014/main" id="{B03BC7A3-02FA-AA99-74C9-B518102A5A9B}"/>
              </a:ext>
            </a:extLst>
          </p:cNvPr>
          <p:cNvSpPr txBox="1"/>
          <p:nvPr/>
        </p:nvSpPr>
        <p:spPr>
          <a:xfrm>
            <a:off x="1640113" y="273426"/>
            <a:ext cx="6072955" cy="646331"/>
          </a:xfrm>
          <a:prstGeom prst="rect">
            <a:avLst/>
          </a:prstGeom>
          <a:noFill/>
        </p:spPr>
        <p:txBody>
          <a:bodyPr wrap="square">
            <a:spAutoFit/>
          </a:bodyPr>
          <a:lstStyle/>
          <a:p>
            <a:r>
              <a:rPr lang="en-US" sz="3600" b="1" i="0" dirty="0">
                <a:solidFill>
                  <a:schemeClr val="bg1"/>
                </a:solidFill>
                <a:effectLst/>
                <a:latin typeface="Estedad"/>
              </a:rPr>
              <a:t>Evolutionary Algorithms</a:t>
            </a:r>
            <a:endParaRPr lang="en-US" sz="3600" dirty="0">
              <a:solidFill>
                <a:schemeClr val="bg1"/>
              </a:solidFill>
            </a:endParaRPr>
          </a:p>
        </p:txBody>
      </p:sp>
      <p:sp>
        <p:nvSpPr>
          <p:cNvPr id="12" name="TextBox 11">
            <a:extLst>
              <a:ext uri="{FF2B5EF4-FFF2-40B4-BE49-F238E27FC236}">
                <a16:creationId xmlns:a16="http://schemas.microsoft.com/office/drawing/2014/main" id="{A7047CBC-C132-3E36-82B3-0C81DFC21C34}"/>
              </a:ext>
            </a:extLst>
          </p:cNvPr>
          <p:cNvSpPr txBox="1"/>
          <p:nvPr/>
        </p:nvSpPr>
        <p:spPr>
          <a:xfrm>
            <a:off x="292947" y="876306"/>
            <a:ext cx="6451600" cy="3916457"/>
          </a:xfrm>
          <a:prstGeom prst="rect">
            <a:avLst/>
          </a:prstGeom>
          <a:noFill/>
        </p:spPr>
        <p:txBody>
          <a:bodyPr wrap="square">
            <a:spAutoFit/>
          </a:bodyPr>
          <a:lstStyle/>
          <a:p>
            <a:pPr marL="342900" indent="-342900">
              <a:lnSpc>
                <a:spcPct val="200000"/>
              </a:lnSpc>
              <a:buFont typeface="+mj-lt"/>
              <a:buAutoNum type="arabicPeriod"/>
            </a:pPr>
            <a:r>
              <a:rPr lang="en-US" b="1" dirty="0">
                <a:solidFill>
                  <a:srgbClr val="0F1115"/>
                </a:solidFill>
                <a:latin typeface="Estedad"/>
                <a:cs typeface="B Nazanin" panose="00000400000000000000" pitchFamily="2" charset="-78"/>
              </a:rPr>
              <a:t> Genetic Algorithm (GA)</a:t>
            </a:r>
            <a:r>
              <a:rPr lang="en-US" dirty="0">
                <a:solidFill>
                  <a:srgbClr val="0F1115"/>
                </a:solidFill>
                <a:latin typeface="Estedad"/>
                <a:cs typeface="B Nazanin" panose="00000400000000000000" pitchFamily="2" charset="-78"/>
              </a:rPr>
              <a:t> — </a:t>
            </a:r>
            <a:r>
              <a:rPr lang="fa-IR" dirty="0">
                <a:solidFill>
                  <a:srgbClr val="0F1115"/>
                </a:solidFill>
                <a:latin typeface="Estedad"/>
                <a:cs typeface="B Nazanin" panose="00000400000000000000" pitchFamily="2" charset="-78"/>
              </a:rPr>
              <a:t>الگوریتم ژنتیک</a:t>
            </a:r>
          </a:p>
          <a:p>
            <a:pPr marL="342900" indent="-342900">
              <a:lnSpc>
                <a:spcPct val="200000"/>
              </a:lnSpc>
              <a:buFont typeface="+mj-lt"/>
              <a:buAutoNum type="arabicPeriod"/>
            </a:pPr>
            <a:r>
              <a:rPr lang="en-US" b="1" dirty="0">
                <a:solidFill>
                  <a:srgbClr val="0F1115"/>
                </a:solidFill>
                <a:latin typeface="Estedad"/>
                <a:cs typeface="B Nazanin" panose="00000400000000000000" pitchFamily="2" charset="-78"/>
              </a:rPr>
              <a:t>Grey Wolf Optimization(GWO) – </a:t>
            </a:r>
            <a:r>
              <a:rPr lang="fa-IR" dirty="0">
                <a:solidFill>
                  <a:srgbClr val="0F1115"/>
                </a:solidFill>
                <a:latin typeface="Estedad"/>
                <a:cs typeface="B Nazanin" panose="00000400000000000000" pitchFamily="2" charset="-78"/>
              </a:rPr>
              <a:t>الگوریتم گرگ خاکستری</a:t>
            </a:r>
            <a:endParaRPr lang="fa-IR" b="0" i="0" dirty="0">
              <a:solidFill>
                <a:srgbClr val="0F1115"/>
              </a:solidFill>
              <a:effectLst/>
              <a:latin typeface="Estedad"/>
              <a:cs typeface="B Nazanin" panose="00000400000000000000" pitchFamily="2" charset="-78"/>
            </a:endParaRPr>
          </a:p>
          <a:p>
            <a:pPr marL="342900" indent="-342900">
              <a:lnSpc>
                <a:spcPct val="200000"/>
              </a:lnSpc>
              <a:buFont typeface="+mj-lt"/>
              <a:buAutoNum type="arabicPeriod"/>
            </a:pPr>
            <a:r>
              <a:rPr lang="en-US" b="1" i="0" dirty="0">
                <a:solidFill>
                  <a:srgbClr val="0F1115"/>
                </a:solidFill>
                <a:effectLst/>
                <a:latin typeface="Estedad"/>
                <a:cs typeface="B Nazanin" panose="00000400000000000000" pitchFamily="2" charset="-78"/>
              </a:rPr>
              <a:t> </a:t>
            </a:r>
            <a:r>
              <a:rPr lang="en-US" b="1" dirty="0">
                <a:solidFill>
                  <a:srgbClr val="0F1115"/>
                </a:solidFill>
                <a:latin typeface="Estedad"/>
                <a:cs typeface="B Nazanin" panose="00000400000000000000" pitchFamily="2" charset="-78"/>
              </a:rPr>
              <a:t>Bat algorithm</a:t>
            </a:r>
            <a:r>
              <a:rPr lang="fa-IR" b="1" dirty="0">
                <a:solidFill>
                  <a:srgbClr val="0F1115"/>
                </a:solidFill>
                <a:latin typeface="Estedad"/>
                <a:cs typeface="B Nazanin" panose="00000400000000000000" pitchFamily="2" charset="-78"/>
              </a:rPr>
              <a:t> </a:t>
            </a:r>
            <a:r>
              <a:rPr lang="fa-IR" dirty="0">
                <a:solidFill>
                  <a:srgbClr val="0F1115"/>
                </a:solidFill>
                <a:latin typeface="Estedad"/>
                <a:cs typeface="B Nazanin" panose="00000400000000000000" pitchFamily="2" charset="-78"/>
              </a:rPr>
              <a:t>الگوریتم خفاش-</a:t>
            </a:r>
          </a:p>
          <a:p>
            <a:pPr marL="342900" indent="-342900">
              <a:lnSpc>
                <a:spcPct val="200000"/>
              </a:lnSpc>
              <a:buFont typeface="+mj-lt"/>
              <a:buAutoNum type="arabicPeriod"/>
            </a:pPr>
            <a:r>
              <a:rPr lang="en-US" b="1" dirty="0">
                <a:latin typeface="Estedad"/>
              </a:rPr>
              <a:t>Gorilla Troops Optimizer(GTO)</a:t>
            </a:r>
            <a:r>
              <a:rPr lang="fa-IR" dirty="0">
                <a:solidFill>
                  <a:srgbClr val="0F1115"/>
                </a:solidFill>
                <a:latin typeface="Estedad"/>
                <a:cs typeface="B Nazanin" panose="00000400000000000000" pitchFamily="2" charset="-78"/>
              </a:rPr>
              <a:t> الگوریتم گوریل-</a:t>
            </a:r>
          </a:p>
          <a:p>
            <a:pPr marL="342900" indent="-342900">
              <a:lnSpc>
                <a:spcPct val="200000"/>
              </a:lnSpc>
              <a:buFont typeface="+mj-lt"/>
              <a:buAutoNum type="arabicPeriod"/>
            </a:pPr>
            <a:r>
              <a:rPr lang="en-US" b="1" dirty="0">
                <a:solidFill>
                  <a:srgbClr val="0F1115"/>
                </a:solidFill>
                <a:latin typeface="Estedad"/>
                <a:cs typeface="B Nazanin" panose="00000400000000000000" pitchFamily="2" charset="-78"/>
              </a:rPr>
              <a:t>Firefly Algorithm(FA)</a:t>
            </a:r>
            <a:r>
              <a:rPr lang="fa-IR" b="1" dirty="0">
                <a:solidFill>
                  <a:srgbClr val="0F1115"/>
                </a:solidFill>
                <a:latin typeface="Estedad"/>
                <a:cs typeface="B Nazanin" panose="00000400000000000000" pitchFamily="2" charset="-78"/>
              </a:rPr>
              <a:t>  </a:t>
            </a:r>
            <a:r>
              <a:rPr lang="fa-IR" dirty="0">
                <a:solidFill>
                  <a:srgbClr val="0F1115"/>
                </a:solidFill>
                <a:latin typeface="Estedad"/>
                <a:cs typeface="B Nazanin" panose="00000400000000000000" pitchFamily="2" charset="-78"/>
              </a:rPr>
              <a:t>الگوریتم کرم شب تاب</a:t>
            </a:r>
            <a:r>
              <a:rPr lang="fa-IR" b="1" dirty="0">
                <a:solidFill>
                  <a:srgbClr val="0F1115"/>
                </a:solidFill>
                <a:latin typeface="Estedad"/>
                <a:cs typeface="B Nazanin" panose="00000400000000000000" pitchFamily="2" charset="-78"/>
              </a:rPr>
              <a:t>-</a:t>
            </a:r>
            <a:endParaRPr lang="en-US" b="1" dirty="0">
              <a:solidFill>
                <a:srgbClr val="0F1115"/>
              </a:solidFill>
              <a:latin typeface="Estedad"/>
              <a:cs typeface="B Nazanin" panose="00000400000000000000" pitchFamily="2" charset="-78"/>
            </a:endParaRPr>
          </a:p>
          <a:p>
            <a:pPr marL="342900" indent="-342900">
              <a:lnSpc>
                <a:spcPct val="200000"/>
              </a:lnSpc>
              <a:buFont typeface="+mj-lt"/>
              <a:buAutoNum type="arabicPeriod"/>
            </a:pPr>
            <a:r>
              <a:rPr lang="en-US" b="1" dirty="0">
                <a:latin typeface="Estedad"/>
                <a:cs typeface="B Nazanin" panose="00000400000000000000" pitchFamily="2" charset="-78"/>
              </a:rPr>
              <a:t>Honey Bee Algorithm (HBA)- </a:t>
            </a:r>
            <a:r>
              <a:rPr lang="fa-IR" dirty="0">
                <a:latin typeface="Estedad"/>
                <a:cs typeface="B Nazanin" panose="00000400000000000000" pitchFamily="2" charset="-78"/>
              </a:rPr>
              <a:t>الگوریتم زنبور عسل</a:t>
            </a:r>
          </a:p>
          <a:p>
            <a:pPr marL="342900" indent="-342900">
              <a:lnSpc>
                <a:spcPct val="200000"/>
              </a:lnSpc>
              <a:buFont typeface="+mj-lt"/>
              <a:buAutoNum type="arabicPeriod"/>
            </a:pPr>
            <a:r>
              <a:rPr lang="en-US" b="1" dirty="0">
                <a:latin typeface="Estedad"/>
                <a:cs typeface="B Nazanin" panose="00000400000000000000" pitchFamily="2" charset="-78"/>
              </a:rPr>
              <a:t>Lion Optimization Algorithm (LOA</a:t>
            </a:r>
            <a:r>
              <a:rPr lang="en-US" dirty="0">
                <a:latin typeface="Estedad"/>
                <a:cs typeface="B Nazanin" panose="00000400000000000000" pitchFamily="2" charset="-78"/>
              </a:rPr>
              <a:t>)</a:t>
            </a:r>
            <a:r>
              <a:rPr lang="fa-IR" dirty="0">
                <a:latin typeface="Estedad"/>
                <a:cs typeface="B Nazanin" panose="00000400000000000000" pitchFamily="2" charset="-78"/>
              </a:rPr>
              <a:t>  الگوریتم بهینه سازی شیر-</a:t>
            </a:r>
            <a:endParaRPr lang="fa-IR" i="0" dirty="0">
              <a:solidFill>
                <a:srgbClr val="0F1115"/>
              </a:solidFill>
              <a:effectLst/>
              <a:latin typeface="Estedad"/>
              <a:cs typeface="B Nazanin" panose="00000400000000000000" pitchFamily="2" charset="-78"/>
            </a:endParaRPr>
          </a:p>
          <a:p>
            <a:pPr marL="342900" indent="-342900">
              <a:lnSpc>
                <a:spcPct val="200000"/>
              </a:lnSpc>
              <a:buFont typeface="+mj-lt"/>
              <a:buAutoNum type="arabicPeriod"/>
            </a:pPr>
            <a:r>
              <a:rPr lang="en-US" b="1" dirty="0">
                <a:latin typeface="Estedad"/>
              </a:rPr>
              <a:t>Ant Colony Optimization (ACO)</a:t>
            </a:r>
            <a:r>
              <a:rPr lang="fa-IR" dirty="0">
                <a:latin typeface="Estedad"/>
                <a:cs typeface="B Nazanin" panose="00000400000000000000" pitchFamily="2" charset="-78"/>
              </a:rPr>
              <a:t> الگوریتم بهینه سازی کلونی مورچه-</a:t>
            </a:r>
            <a:endParaRPr lang="fa-IR" b="1" i="0" dirty="0">
              <a:solidFill>
                <a:srgbClr val="0F1115"/>
              </a:solidFill>
              <a:effectLst/>
              <a:latin typeface="Estedad"/>
              <a:cs typeface="B Nazanin" panose="00000400000000000000" pitchFamily="2" charset="-78"/>
            </a:endParaRPr>
          </a:p>
          <a:p>
            <a:pPr marL="342900" indent="-342900">
              <a:lnSpc>
                <a:spcPct val="200000"/>
              </a:lnSpc>
              <a:buFont typeface="+mj-lt"/>
              <a:buAutoNum type="arabicPeriod"/>
            </a:pPr>
            <a:r>
              <a:rPr lang="en-US" b="1" i="0" dirty="0">
                <a:solidFill>
                  <a:srgbClr val="0F1115"/>
                </a:solidFill>
                <a:effectLst/>
                <a:latin typeface="Estedad"/>
                <a:cs typeface="B Nazanin" panose="00000400000000000000" pitchFamily="2" charset="-78"/>
              </a:rPr>
              <a:t>Whale Optimization Algorithm (WOA)</a:t>
            </a:r>
            <a:r>
              <a:rPr lang="fa-IR" b="1" i="0" dirty="0">
                <a:solidFill>
                  <a:srgbClr val="0F1115"/>
                </a:solidFill>
                <a:effectLst/>
                <a:latin typeface="Estedad"/>
                <a:cs typeface="B Nazanin" panose="00000400000000000000" pitchFamily="2" charset="-78"/>
              </a:rPr>
              <a:t>-</a:t>
            </a:r>
            <a:r>
              <a:rPr lang="en-US" b="1" i="0" dirty="0">
                <a:solidFill>
                  <a:srgbClr val="0F1115"/>
                </a:solidFill>
                <a:effectLst/>
                <a:latin typeface="Estedad"/>
                <a:cs typeface="B Nazanin" panose="00000400000000000000" pitchFamily="2" charset="-78"/>
              </a:rPr>
              <a:t> </a:t>
            </a:r>
            <a:r>
              <a:rPr lang="fa-IR" i="0" dirty="0">
                <a:solidFill>
                  <a:srgbClr val="0F1115"/>
                </a:solidFill>
                <a:effectLst/>
                <a:latin typeface="Estedad"/>
                <a:cs typeface="B Nazanin" panose="00000400000000000000" pitchFamily="2" charset="-78"/>
              </a:rPr>
              <a:t>الگوریتم بهینه سازی وال یا نهنگ</a:t>
            </a:r>
          </a:p>
        </p:txBody>
      </p:sp>
    </p:spTree>
    <p:extLst>
      <p:ext uri="{BB962C8B-B14F-4D97-AF65-F5344CB8AC3E}">
        <p14:creationId xmlns:p14="http://schemas.microsoft.com/office/powerpoint/2010/main" val="1109795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747C661E-4BDA-4A5A-073C-C99267E8C7AA}"/>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E2D64580-DBE6-97B9-D5E8-3FE97BD8BFA5}"/>
              </a:ext>
            </a:extLst>
          </p:cNvPr>
          <p:cNvSpPr txBox="1"/>
          <p:nvPr/>
        </p:nvSpPr>
        <p:spPr>
          <a:xfrm>
            <a:off x="5555674" y="424450"/>
            <a:ext cx="2571190" cy="461665"/>
          </a:xfrm>
          <a:prstGeom prst="rect">
            <a:avLst/>
          </a:prstGeom>
          <a:noFill/>
        </p:spPr>
        <p:txBody>
          <a:bodyPr wrap="square">
            <a:spAutoFit/>
          </a:bodyPr>
          <a:lstStyle/>
          <a:p>
            <a:pPr algn="ctr"/>
            <a:r>
              <a:rPr lang="fa-IR" sz="2400" b="1" dirty="0">
                <a:solidFill>
                  <a:schemeClr val="bg1"/>
                </a:solidFill>
                <a:cs typeface="B Nazanin" panose="00000400000000000000" pitchFamily="2" charset="-78"/>
              </a:rPr>
              <a:t>الگوریتم های تکاملی</a:t>
            </a:r>
            <a:endParaRPr lang="en-US" sz="2400" b="1" dirty="0">
              <a:solidFill>
                <a:schemeClr val="bg1"/>
              </a:solidFill>
              <a:cs typeface="B Nazanin" panose="00000400000000000000" pitchFamily="2" charset="-78"/>
            </a:endParaRPr>
          </a:p>
        </p:txBody>
      </p:sp>
      <p:sp>
        <p:nvSpPr>
          <p:cNvPr id="13" name="TextBox 12">
            <a:extLst>
              <a:ext uri="{FF2B5EF4-FFF2-40B4-BE49-F238E27FC236}">
                <a16:creationId xmlns:a16="http://schemas.microsoft.com/office/drawing/2014/main" id="{4E459498-E780-40A0-EF74-FC0D432A0569}"/>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5" name="TextBox 4">
            <a:extLst>
              <a:ext uri="{FF2B5EF4-FFF2-40B4-BE49-F238E27FC236}">
                <a16:creationId xmlns:a16="http://schemas.microsoft.com/office/drawing/2014/main" id="{CAC97C1B-10C2-FBE3-FCD0-2786CA79B94E}"/>
              </a:ext>
            </a:extLst>
          </p:cNvPr>
          <p:cNvSpPr txBox="1"/>
          <p:nvPr/>
        </p:nvSpPr>
        <p:spPr>
          <a:xfrm>
            <a:off x="1607127" y="440097"/>
            <a:ext cx="3290455" cy="369332"/>
          </a:xfrm>
          <a:prstGeom prst="rect">
            <a:avLst/>
          </a:prstGeom>
          <a:noFill/>
        </p:spPr>
        <p:txBody>
          <a:bodyPr wrap="square">
            <a:spAutoFit/>
          </a:bodyPr>
          <a:lstStyle/>
          <a:p>
            <a:r>
              <a:rPr lang="en-US" sz="1800" dirty="0">
                <a:solidFill>
                  <a:schemeClr val="bg1"/>
                </a:solidFill>
                <a:latin typeface="Arial Black" panose="020B0A04020102020204" pitchFamily="34" charset="0"/>
              </a:rPr>
              <a:t>Evolutionary Algorithms</a:t>
            </a:r>
          </a:p>
        </p:txBody>
      </p:sp>
      <p:sp>
        <p:nvSpPr>
          <p:cNvPr id="9" name="TextBox 8">
            <a:extLst>
              <a:ext uri="{FF2B5EF4-FFF2-40B4-BE49-F238E27FC236}">
                <a16:creationId xmlns:a16="http://schemas.microsoft.com/office/drawing/2014/main" id="{B7C0E685-600A-609B-B10F-AAF178A72C95}"/>
              </a:ext>
            </a:extLst>
          </p:cNvPr>
          <p:cNvSpPr txBox="1"/>
          <p:nvPr/>
        </p:nvSpPr>
        <p:spPr>
          <a:xfrm>
            <a:off x="613229" y="1750318"/>
            <a:ext cx="8146143" cy="1749005"/>
          </a:xfrm>
          <a:prstGeom prst="rect">
            <a:avLst/>
          </a:prstGeom>
          <a:noFill/>
        </p:spPr>
        <p:txBody>
          <a:bodyPr wrap="square">
            <a:spAutoFit/>
          </a:bodyPr>
          <a:lstStyle/>
          <a:p>
            <a:pPr>
              <a:lnSpc>
                <a:spcPct val="200000"/>
              </a:lnSpc>
            </a:pPr>
            <a:r>
              <a:rPr lang="en-US" dirty="0">
                <a:solidFill>
                  <a:srgbClr val="002060"/>
                </a:solidFill>
              </a:rPr>
              <a:t>Evolutionary Algorithms (EAs) are a family of stochastic, population-based optimization and search algorithms inspired by biological evolution. They are used when the objective function is nonlinear, non-differentiable, noisy, discontinuous, or defined over complex discrete/continuous spaces.</a:t>
            </a:r>
          </a:p>
          <a:p>
            <a:pPr>
              <a:lnSpc>
                <a:spcPct val="200000"/>
              </a:lnSpc>
            </a:pPr>
            <a:endParaRPr lang="en-US" dirty="0">
              <a:solidFill>
                <a:srgbClr val="002060"/>
              </a:solidFill>
            </a:endParaRPr>
          </a:p>
        </p:txBody>
      </p:sp>
      <p:sp>
        <p:nvSpPr>
          <p:cNvPr id="3" name="TextBox 2">
            <a:extLst>
              <a:ext uri="{FF2B5EF4-FFF2-40B4-BE49-F238E27FC236}">
                <a16:creationId xmlns:a16="http://schemas.microsoft.com/office/drawing/2014/main" id="{2243D0EA-3D10-3FBC-903A-2D3ACA6D1CDF}"/>
              </a:ext>
            </a:extLst>
          </p:cNvPr>
          <p:cNvSpPr txBox="1"/>
          <p:nvPr/>
        </p:nvSpPr>
        <p:spPr>
          <a:xfrm>
            <a:off x="613229" y="3210375"/>
            <a:ext cx="7751838" cy="523220"/>
          </a:xfrm>
          <a:prstGeom prst="rect">
            <a:avLst/>
          </a:prstGeom>
          <a:noFill/>
        </p:spPr>
        <p:txBody>
          <a:bodyPr wrap="square">
            <a:spAutoFit/>
          </a:bodyPr>
          <a:lstStyle/>
          <a:p>
            <a:pPr marL="285750" indent="-285750">
              <a:buFont typeface="Wingdings" panose="05000000000000000000" pitchFamily="2" charset="2"/>
              <a:buChar char="v"/>
            </a:pPr>
            <a:r>
              <a:rPr lang="en-US" u="sng" dirty="0">
                <a:solidFill>
                  <a:schemeClr val="accent2">
                    <a:lumMod val="50000"/>
                  </a:schemeClr>
                </a:solidFill>
              </a:rPr>
              <a:t>Evolutionary algorithms are a class of algorithms that mimic the genetic improvements of human beings or the natural behavior of animals.</a:t>
            </a:r>
          </a:p>
        </p:txBody>
      </p:sp>
    </p:spTree>
    <p:extLst>
      <p:ext uri="{BB962C8B-B14F-4D97-AF65-F5344CB8AC3E}">
        <p14:creationId xmlns:p14="http://schemas.microsoft.com/office/powerpoint/2010/main" val="3943971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EA57227D-E673-2499-86B2-BF3E36C253EB}"/>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939DFF87-ED22-CAC4-167B-6593AB85B8FC}"/>
              </a:ext>
            </a:extLst>
          </p:cNvPr>
          <p:cNvSpPr txBox="1"/>
          <p:nvPr/>
        </p:nvSpPr>
        <p:spPr>
          <a:xfrm>
            <a:off x="1561737" y="342758"/>
            <a:ext cx="2465977" cy="584775"/>
          </a:xfrm>
          <a:prstGeom prst="rect">
            <a:avLst/>
          </a:prstGeom>
          <a:noFill/>
        </p:spPr>
        <p:txBody>
          <a:bodyPr wrap="square">
            <a:spAutoFit/>
          </a:bodyPr>
          <a:lstStyle/>
          <a:p>
            <a:pPr algn="l"/>
            <a:r>
              <a:rPr lang="en-US" sz="3200" b="1" dirty="0">
                <a:solidFill>
                  <a:srgbClr val="FFFF00"/>
                </a:solidFill>
                <a:effectLst/>
                <a:latin typeface="Estedad"/>
              </a:rPr>
              <a:t>Core Idea?</a:t>
            </a:r>
          </a:p>
        </p:txBody>
      </p:sp>
      <p:sp>
        <p:nvSpPr>
          <p:cNvPr id="13" name="TextBox 12">
            <a:extLst>
              <a:ext uri="{FF2B5EF4-FFF2-40B4-BE49-F238E27FC236}">
                <a16:creationId xmlns:a16="http://schemas.microsoft.com/office/drawing/2014/main" id="{07EDC1B4-8BC8-8D2B-0207-EC32A165D0EC}"/>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11" name="TextBox 10">
            <a:extLst>
              <a:ext uri="{FF2B5EF4-FFF2-40B4-BE49-F238E27FC236}">
                <a16:creationId xmlns:a16="http://schemas.microsoft.com/office/drawing/2014/main" id="{9E8E8E39-8F56-593F-14BA-80A1FBD034A5}"/>
              </a:ext>
            </a:extLst>
          </p:cNvPr>
          <p:cNvSpPr txBox="1"/>
          <p:nvPr/>
        </p:nvSpPr>
        <p:spPr>
          <a:xfrm>
            <a:off x="704184" y="1330198"/>
            <a:ext cx="2888102" cy="307777"/>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r>
              <a:rPr lang="en-US" b="0" i="0" dirty="0">
                <a:solidFill>
                  <a:srgbClr val="0F1115"/>
                </a:solidFill>
                <a:effectLst/>
                <a:latin typeface="Estedad"/>
              </a:rPr>
              <a:t>Given an optimization problem:</a:t>
            </a:r>
            <a:endParaRPr lang="fa-IR" dirty="0"/>
          </a:p>
        </p:txBody>
      </p:sp>
      <p:sp>
        <p:nvSpPr>
          <p:cNvPr id="14" name="TextBox 13">
            <a:extLst>
              <a:ext uri="{FF2B5EF4-FFF2-40B4-BE49-F238E27FC236}">
                <a16:creationId xmlns:a16="http://schemas.microsoft.com/office/drawing/2014/main" id="{4C748C62-6C07-7974-4C25-45FC07A449CD}"/>
              </a:ext>
            </a:extLst>
          </p:cNvPr>
          <p:cNvSpPr txBox="1"/>
          <p:nvPr/>
        </p:nvSpPr>
        <p:spPr>
          <a:xfrm>
            <a:off x="704184" y="1803820"/>
            <a:ext cx="4572000" cy="307777"/>
          </a:xfrm>
          <a:prstGeom prst="rect">
            <a:avLst/>
          </a:prstGeom>
        </p:spPr>
        <p:style>
          <a:lnRef idx="2">
            <a:schemeClr val="accent5"/>
          </a:lnRef>
          <a:fillRef idx="1">
            <a:schemeClr val="lt1"/>
          </a:fillRef>
          <a:effectRef idx="0">
            <a:schemeClr val="accent5"/>
          </a:effectRef>
          <a:fontRef idx="minor">
            <a:schemeClr val="dk1"/>
          </a:fontRef>
        </p:style>
        <p:txBody>
          <a:bodyPr wrap="square">
            <a:spAutoFit/>
          </a:bodyPr>
          <a:lstStyle/>
          <a:p>
            <a:r>
              <a:rPr lang="en-US" b="0" i="0" dirty="0">
                <a:solidFill>
                  <a:srgbClr val="0F1115"/>
                </a:solidFill>
                <a:effectLst/>
                <a:latin typeface="Estedad"/>
              </a:rPr>
              <a:t>an EA maintains a population of candidate solutions</a:t>
            </a:r>
            <a:endParaRPr lang="fa-IR" dirty="0"/>
          </a:p>
        </p:txBody>
      </p:sp>
      <p:sp>
        <p:nvSpPr>
          <p:cNvPr id="15" name="TextBox 14">
            <a:extLst>
              <a:ext uri="{FF2B5EF4-FFF2-40B4-BE49-F238E27FC236}">
                <a16:creationId xmlns:a16="http://schemas.microsoft.com/office/drawing/2014/main" id="{23E379C6-81C2-E93F-A922-EE6382ACDAAC}"/>
              </a:ext>
            </a:extLst>
          </p:cNvPr>
          <p:cNvSpPr txBox="1"/>
          <p:nvPr/>
        </p:nvSpPr>
        <p:spPr>
          <a:xfrm>
            <a:off x="704184" y="2263973"/>
            <a:ext cx="4572000" cy="307777"/>
          </a:xfrm>
          <a:prstGeom prst="rect">
            <a:avLst/>
          </a:prstGeom>
        </p:spPr>
        <p:style>
          <a:lnRef idx="2">
            <a:schemeClr val="accent5"/>
          </a:lnRef>
          <a:fillRef idx="1">
            <a:schemeClr val="lt1"/>
          </a:fillRef>
          <a:effectRef idx="0">
            <a:schemeClr val="accent5"/>
          </a:effectRef>
          <a:fontRef idx="minor">
            <a:schemeClr val="dk1"/>
          </a:fontRef>
        </p:style>
        <p:txBody>
          <a:bodyPr wrap="square">
            <a:spAutoFit/>
          </a:bodyPr>
          <a:lstStyle/>
          <a:p>
            <a:r>
              <a:rPr lang="en-US" b="0" i="0" dirty="0">
                <a:solidFill>
                  <a:srgbClr val="0F1115"/>
                </a:solidFill>
                <a:effectLst/>
                <a:latin typeface="Estedad"/>
              </a:rPr>
              <a:t> and repeatedly applies</a:t>
            </a:r>
            <a:endParaRPr lang="fa-IR" dirty="0"/>
          </a:p>
        </p:txBody>
      </p:sp>
      <p:sp>
        <p:nvSpPr>
          <p:cNvPr id="18" name="TextBox 17">
            <a:extLst>
              <a:ext uri="{FF2B5EF4-FFF2-40B4-BE49-F238E27FC236}">
                <a16:creationId xmlns:a16="http://schemas.microsoft.com/office/drawing/2014/main" id="{DEC91506-C5A1-B1AB-E686-FE0763CFD3B1}"/>
              </a:ext>
            </a:extLst>
          </p:cNvPr>
          <p:cNvSpPr txBox="1"/>
          <p:nvPr/>
        </p:nvSpPr>
        <p:spPr>
          <a:xfrm>
            <a:off x="1937173" y="2664841"/>
            <a:ext cx="4572000" cy="1991379"/>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pPr marL="342900" indent="-342900">
              <a:lnSpc>
                <a:spcPct val="150000"/>
              </a:lnSpc>
              <a:buFont typeface="+mj-lt"/>
              <a:buAutoNum type="arabicPeriod"/>
            </a:pPr>
            <a:r>
              <a:rPr lang="en-US" b="1" i="0" dirty="0">
                <a:solidFill>
                  <a:srgbClr val="0F1115"/>
                </a:solidFill>
                <a:effectLst/>
                <a:latin typeface="Estedad"/>
              </a:rPr>
              <a:t>f(x) Evaluation</a:t>
            </a:r>
            <a:r>
              <a:rPr lang="en-US" b="0" i="0" dirty="0">
                <a:solidFill>
                  <a:srgbClr val="0F1115"/>
                </a:solidFill>
                <a:effectLst/>
                <a:latin typeface="Estedad"/>
              </a:rPr>
              <a:t> — compute fitness</a:t>
            </a:r>
          </a:p>
          <a:p>
            <a:pPr marL="342900" indent="-342900">
              <a:lnSpc>
                <a:spcPct val="150000"/>
              </a:lnSpc>
              <a:buFont typeface="+mj-lt"/>
              <a:buAutoNum type="arabicPeriod"/>
            </a:pPr>
            <a:r>
              <a:rPr lang="en-US" b="1" i="0" dirty="0">
                <a:solidFill>
                  <a:srgbClr val="0F1115"/>
                </a:solidFill>
                <a:effectLst/>
                <a:latin typeface="Estedad"/>
              </a:rPr>
              <a:t>Selection</a:t>
            </a:r>
            <a:r>
              <a:rPr lang="en-US" b="0" i="0" dirty="0">
                <a:solidFill>
                  <a:srgbClr val="0F1115"/>
                </a:solidFill>
                <a:effectLst/>
                <a:latin typeface="Estedad"/>
              </a:rPr>
              <a:t> — choose better individuals</a:t>
            </a:r>
          </a:p>
          <a:p>
            <a:pPr marL="342900" indent="-342900">
              <a:lnSpc>
                <a:spcPct val="150000"/>
              </a:lnSpc>
              <a:buFont typeface="+mj-lt"/>
              <a:buAutoNum type="arabicPeriod"/>
            </a:pPr>
            <a:r>
              <a:rPr lang="en-US" b="1" i="0" dirty="0">
                <a:solidFill>
                  <a:srgbClr val="0F1115"/>
                </a:solidFill>
                <a:effectLst/>
                <a:latin typeface="Estedad"/>
              </a:rPr>
              <a:t>Variation</a:t>
            </a:r>
            <a:r>
              <a:rPr lang="en-US" b="0" i="0" dirty="0">
                <a:solidFill>
                  <a:srgbClr val="0F1115"/>
                </a:solidFill>
                <a:effectLst/>
                <a:latin typeface="Estedad"/>
              </a:rPr>
              <a:t> — crossover and/or mutation</a:t>
            </a:r>
            <a:endParaRPr lang="en-US" dirty="0">
              <a:solidFill>
                <a:srgbClr val="0F1115"/>
              </a:solidFill>
              <a:latin typeface="Estedad"/>
            </a:endParaRPr>
          </a:p>
          <a:p>
            <a:pPr marL="342900" indent="-342900">
              <a:lnSpc>
                <a:spcPct val="150000"/>
              </a:lnSpc>
              <a:buFont typeface="+mj-lt"/>
              <a:buAutoNum type="arabicPeriod"/>
            </a:pPr>
            <a:r>
              <a:rPr lang="en-US" b="1" i="0" dirty="0">
                <a:solidFill>
                  <a:srgbClr val="0F1115"/>
                </a:solidFill>
                <a:effectLst/>
                <a:latin typeface="Estedad"/>
              </a:rPr>
              <a:t>Replacement</a:t>
            </a:r>
            <a:r>
              <a:rPr lang="en-US" b="0" i="0" dirty="0">
                <a:solidFill>
                  <a:srgbClr val="0F1115"/>
                </a:solidFill>
                <a:effectLst/>
                <a:latin typeface="Estedad"/>
              </a:rPr>
              <a:t> — form the next generation</a:t>
            </a:r>
          </a:p>
          <a:p>
            <a:pPr marL="342900" indent="-342900">
              <a:lnSpc>
                <a:spcPct val="150000"/>
              </a:lnSpc>
              <a:buFont typeface="+mj-lt"/>
              <a:buAutoNum type="arabicPeriod"/>
            </a:pPr>
            <a:r>
              <a:rPr lang="en-US" b="1" i="0" dirty="0">
                <a:solidFill>
                  <a:srgbClr val="0F1115"/>
                </a:solidFill>
                <a:effectLst/>
                <a:latin typeface="Estedad"/>
              </a:rPr>
              <a:t>Termination</a:t>
            </a:r>
            <a:r>
              <a:rPr lang="en-US" b="0" i="0" dirty="0">
                <a:solidFill>
                  <a:srgbClr val="0F1115"/>
                </a:solidFill>
                <a:effectLst/>
                <a:latin typeface="Estedad"/>
              </a:rPr>
              <a:t> — stop when a criterion is met</a:t>
            </a:r>
            <a:br>
              <a:rPr lang="en-US" dirty="0"/>
            </a:br>
            <a:endParaRPr lang="fa-IR" dirty="0"/>
          </a:p>
        </p:txBody>
      </p:sp>
    </p:spTree>
    <p:extLst>
      <p:ext uri="{BB962C8B-B14F-4D97-AF65-F5344CB8AC3E}">
        <p14:creationId xmlns:p14="http://schemas.microsoft.com/office/powerpoint/2010/main" val="14335694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F1D07E23-559B-AC54-50F1-CA980C2982D2}"/>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BC395024-14B5-FFA4-35C2-9541A5FE148E}"/>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E1DC080A-0970-88B5-2072-9156F3973314}"/>
              </a:ext>
            </a:extLst>
          </p:cNvPr>
          <p:cNvSpPr txBox="1"/>
          <p:nvPr/>
        </p:nvSpPr>
        <p:spPr>
          <a:xfrm>
            <a:off x="1526575" y="400851"/>
            <a:ext cx="7095879"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Grey Wolf Optimization(GWO)</a:t>
            </a:r>
            <a:endParaRPr lang="fa-IR" sz="2800" b="1" dirty="0">
              <a:solidFill>
                <a:schemeClr val="accent1">
                  <a:lumMod val="40000"/>
                  <a:lumOff val="60000"/>
                </a:schemeClr>
              </a:solidFill>
              <a:latin typeface="Estedad"/>
              <a:cs typeface="B Nazanin" panose="00000400000000000000" pitchFamily="2" charset="-78"/>
            </a:endParaRPr>
          </a:p>
        </p:txBody>
      </p:sp>
      <p:sp>
        <p:nvSpPr>
          <p:cNvPr id="6" name="TextBox 5">
            <a:extLst>
              <a:ext uri="{FF2B5EF4-FFF2-40B4-BE49-F238E27FC236}">
                <a16:creationId xmlns:a16="http://schemas.microsoft.com/office/drawing/2014/main" id="{E494E8E1-FD27-D5B3-DB99-DE388A415893}"/>
              </a:ext>
            </a:extLst>
          </p:cNvPr>
          <p:cNvSpPr txBox="1"/>
          <p:nvPr/>
        </p:nvSpPr>
        <p:spPr>
          <a:xfrm>
            <a:off x="167233" y="1614195"/>
            <a:ext cx="6633194" cy="738664"/>
          </a:xfrm>
          <a:prstGeom prst="rect">
            <a:avLst/>
          </a:prstGeom>
          <a:noFill/>
        </p:spPr>
        <p:txBody>
          <a:bodyPr wrap="square">
            <a:spAutoFit/>
          </a:bodyPr>
          <a:lstStyle/>
          <a:p>
            <a:pPr algn="just"/>
            <a:r>
              <a:rPr lang="en-US" dirty="0">
                <a:latin typeface="+mn-lt"/>
              </a:rPr>
              <a:t>Grey Wolf Optimization (GWO) is a nature-inspired </a:t>
            </a:r>
            <a:r>
              <a:rPr lang="en-US" b="1" dirty="0">
                <a:latin typeface="+mn-lt"/>
              </a:rPr>
              <a:t>metaheuristic algorithm </a:t>
            </a:r>
            <a:r>
              <a:rPr lang="en-US" dirty="0">
                <a:latin typeface="+mn-lt"/>
              </a:rPr>
              <a:t>that mimics the leadership hierarchy and hunting behavior of grey wolves in the wild. It was introduced by </a:t>
            </a:r>
            <a:r>
              <a:rPr lang="en-US" b="1" dirty="0">
                <a:latin typeface="+mn-lt"/>
              </a:rPr>
              <a:t>Seyedali Mirjalili</a:t>
            </a:r>
            <a:r>
              <a:rPr lang="en-US" dirty="0">
                <a:latin typeface="+mn-lt"/>
              </a:rPr>
              <a:t> in 2014.</a:t>
            </a:r>
          </a:p>
        </p:txBody>
      </p:sp>
      <p:pic>
        <p:nvPicPr>
          <p:cNvPr id="9" name="Picture 8">
            <a:extLst>
              <a:ext uri="{FF2B5EF4-FFF2-40B4-BE49-F238E27FC236}">
                <a16:creationId xmlns:a16="http://schemas.microsoft.com/office/drawing/2014/main" id="{B1B464B6-7C52-4760-3928-89D0A8A75DD8}"/>
              </a:ext>
            </a:extLst>
          </p:cNvPr>
          <p:cNvPicPr>
            <a:picLocks noChangeAspect="1"/>
          </p:cNvPicPr>
          <p:nvPr/>
        </p:nvPicPr>
        <p:blipFill>
          <a:blip r:embed="rId3"/>
          <a:stretch>
            <a:fillRect/>
          </a:stretch>
        </p:blipFill>
        <p:spPr>
          <a:xfrm>
            <a:off x="6664960" y="1154112"/>
            <a:ext cx="2379451" cy="2474277"/>
          </a:xfrm>
          <a:prstGeom prst="ellipse">
            <a:avLst/>
          </a:prstGeom>
          <a:ln>
            <a:noFill/>
          </a:ln>
          <a:effectLst>
            <a:softEdge rad="112500"/>
          </a:effectLst>
        </p:spPr>
      </p:pic>
      <p:sp>
        <p:nvSpPr>
          <p:cNvPr id="11" name="TextBox 10">
            <a:extLst>
              <a:ext uri="{FF2B5EF4-FFF2-40B4-BE49-F238E27FC236}">
                <a16:creationId xmlns:a16="http://schemas.microsoft.com/office/drawing/2014/main" id="{EE62816B-965E-63C0-D1D9-D133648A3615}"/>
              </a:ext>
            </a:extLst>
          </p:cNvPr>
          <p:cNvSpPr txBox="1"/>
          <p:nvPr/>
        </p:nvSpPr>
        <p:spPr>
          <a:xfrm>
            <a:off x="99589" y="2561181"/>
            <a:ext cx="5610331" cy="307777"/>
          </a:xfrm>
          <a:prstGeom prst="rect">
            <a:avLst/>
          </a:prstGeom>
          <a:noFill/>
        </p:spPr>
        <p:txBody>
          <a:bodyPr wrap="square">
            <a:spAutoFit/>
          </a:bodyPr>
          <a:lstStyle/>
          <a:p>
            <a:r>
              <a:rPr lang="en-US" dirty="0">
                <a:solidFill>
                  <a:schemeClr val="accent3"/>
                </a:solidFill>
              </a:rPr>
              <a:t>Seyedali Mirjalili a, Seyed Mohammad Mirjalili b, Andrew Lewis a</a:t>
            </a:r>
          </a:p>
        </p:txBody>
      </p:sp>
      <p:sp>
        <p:nvSpPr>
          <p:cNvPr id="14" name="TextBox 13">
            <a:extLst>
              <a:ext uri="{FF2B5EF4-FFF2-40B4-BE49-F238E27FC236}">
                <a16:creationId xmlns:a16="http://schemas.microsoft.com/office/drawing/2014/main" id="{13A95325-2ACD-F9C6-14EA-8D9363C7E25C}"/>
              </a:ext>
            </a:extLst>
          </p:cNvPr>
          <p:cNvSpPr txBox="1"/>
          <p:nvPr/>
        </p:nvSpPr>
        <p:spPr>
          <a:xfrm>
            <a:off x="99589" y="3152826"/>
            <a:ext cx="7050352" cy="400110"/>
          </a:xfrm>
          <a:prstGeom prst="rect">
            <a:avLst/>
          </a:prstGeom>
          <a:noFill/>
        </p:spPr>
        <p:txBody>
          <a:bodyPr wrap="square">
            <a:spAutoFit/>
          </a:bodyPr>
          <a:lstStyle/>
          <a:p>
            <a:r>
              <a:rPr lang="en-US" sz="1000" dirty="0"/>
              <a:t>Received 27 June 2013, Revised 18 October 2013, Accepted 11 December 2013, Available online 21 January 2014.</a:t>
            </a:r>
          </a:p>
          <a:p>
            <a:endParaRPr lang="en-US" sz="1000" dirty="0"/>
          </a:p>
        </p:txBody>
      </p:sp>
      <p:sp>
        <p:nvSpPr>
          <p:cNvPr id="18" name="TextBox 17">
            <a:extLst>
              <a:ext uri="{FF2B5EF4-FFF2-40B4-BE49-F238E27FC236}">
                <a16:creationId xmlns:a16="http://schemas.microsoft.com/office/drawing/2014/main" id="{2CA8382D-8F22-07E2-7D27-BCE45F6F321C}"/>
              </a:ext>
            </a:extLst>
          </p:cNvPr>
          <p:cNvSpPr txBox="1"/>
          <p:nvPr/>
        </p:nvSpPr>
        <p:spPr>
          <a:xfrm>
            <a:off x="99589" y="3641568"/>
            <a:ext cx="4059238" cy="307777"/>
          </a:xfrm>
          <a:prstGeom prst="rect">
            <a:avLst/>
          </a:prstGeom>
          <a:noFill/>
        </p:spPr>
        <p:txBody>
          <a:bodyPr wrap="square">
            <a:spAutoFit/>
          </a:bodyPr>
          <a:lstStyle/>
          <a:p>
            <a:r>
              <a:rPr lang="en-US" dirty="0">
                <a:solidFill>
                  <a:srgbClr val="002060"/>
                </a:solidFill>
              </a:rPr>
              <a:t>https://doi.org/10.1016/j.advengsoft.2013.12.007</a:t>
            </a:r>
          </a:p>
        </p:txBody>
      </p:sp>
    </p:spTree>
    <p:extLst>
      <p:ext uri="{BB962C8B-B14F-4D97-AF65-F5344CB8AC3E}">
        <p14:creationId xmlns:p14="http://schemas.microsoft.com/office/powerpoint/2010/main" val="327314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CDF6A724-0A70-217B-21C4-0CC0769986EE}"/>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B7780DF-F556-E26D-79BB-F0E185990D91}"/>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4216946E-EA5B-926D-4CAF-E85382FF7778}"/>
              </a:ext>
            </a:extLst>
          </p:cNvPr>
          <p:cNvSpPr txBox="1"/>
          <p:nvPr/>
        </p:nvSpPr>
        <p:spPr>
          <a:xfrm>
            <a:off x="1418201" y="360126"/>
            <a:ext cx="7095879" cy="461665"/>
          </a:xfrm>
          <a:prstGeom prst="rect">
            <a:avLst/>
          </a:prstGeom>
          <a:noFill/>
        </p:spPr>
        <p:txBody>
          <a:bodyPr wrap="square">
            <a:spAutoFit/>
          </a:bodyPr>
          <a:lstStyle/>
          <a:p>
            <a:r>
              <a:rPr lang="en-US" sz="2400" b="1" dirty="0">
                <a:solidFill>
                  <a:schemeClr val="accent1">
                    <a:lumMod val="40000"/>
                    <a:lumOff val="60000"/>
                  </a:schemeClr>
                </a:solidFill>
                <a:latin typeface="Estedad"/>
                <a:cs typeface="B Nazanin" panose="00000400000000000000" pitchFamily="2" charset="-78"/>
              </a:rPr>
              <a:t>Grey Wolf Optimization(GWO)</a:t>
            </a:r>
            <a:endParaRPr lang="fa-IR" sz="2400" b="1" dirty="0">
              <a:solidFill>
                <a:schemeClr val="accent1">
                  <a:lumMod val="40000"/>
                  <a:lumOff val="60000"/>
                </a:schemeClr>
              </a:solidFill>
              <a:latin typeface="Estedad"/>
              <a:cs typeface="B Nazanin" panose="00000400000000000000" pitchFamily="2" charset="-78"/>
            </a:endParaRPr>
          </a:p>
        </p:txBody>
      </p:sp>
      <p:sp>
        <p:nvSpPr>
          <p:cNvPr id="5" name="TextBox 4">
            <a:extLst>
              <a:ext uri="{FF2B5EF4-FFF2-40B4-BE49-F238E27FC236}">
                <a16:creationId xmlns:a16="http://schemas.microsoft.com/office/drawing/2014/main" id="{2867FF08-E78E-D0BC-D58E-9D0CCD957F41}"/>
              </a:ext>
            </a:extLst>
          </p:cNvPr>
          <p:cNvSpPr txBox="1"/>
          <p:nvPr/>
        </p:nvSpPr>
        <p:spPr>
          <a:xfrm>
            <a:off x="164252" y="1279325"/>
            <a:ext cx="4875107" cy="523220"/>
          </a:xfrm>
          <a:prstGeom prst="rect">
            <a:avLst/>
          </a:prstGeom>
          <a:noFill/>
        </p:spPr>
        <p:txBody>
          <a:bodyPr wrap="square">
            <a:spAutoFit/>
          </a:bodyPr>
          <a:lstStyle/>
          <a:p>
            <a:pPr algn="just"/>
            <a:r>
              <a:rPr lang="en-US" b="0" i="0" dirty="0">
                <a:solidFill>
                  <a:srgbClr val="1F1F1F"/>
                </a:solidFill>
                <a:effectLst/>
                <a:latin typeface="ElsevierGulliver"/>
              </a:rPr>
              <a:t>This work proposes a new meta-heuristic called </a:t>
            </a:r>
            <a:r>
              <a:rPr lang="en-US" b="1" i="0" dirty="0">
                <a:solidFill>
                  <a:srgbClr val="1F1F1F"/>
                </a:solidFill>
                <a:effectLst/>
                <a:latin typeface="ElsevierGulliver"/>
                <a:hlinkClick r:id="rId3"/>
              </a:rPr>
              <a:t>Grey Wolf</a:t>
            </a:r>
            <a:r>
              <a:rPr lang="en-US" b="1" i="0" dirty="0">
                <a:solidFill>
                  <a:srgbClr val="1F1F1F"/>
                </a:solidFill>
                <a:effectLst/>
                <a:latin typeface="ElsevierGulliver"/>
              </a:rPr>
              <a:t> </a:t>
            </a:r>
            <a:r>
              <a:rPr lang="en-US" b="0" i="0" dirty="0">
                <a:solidFill>
                  <a:srgbClr val="1F1F1F"/>
                </a:solidFill>
                <a:effectLst/>
                <a:latin typeface="ElsevierGulliver"/>
              </a:rPr>
              <a:t>Optimizer (GWO) inspired by grey wolves (Canis lupus)</a:t>
            </a:r>
            <a:r>
              <a:rPr lang="fa-IR" b="0" i="0" dirty="0">
                <a:solidFill>
                  <a:srgbClr val="1F1F1F"/>
                </a:solidFill>
                <a:effectLst/>
                <a:latin typeface="ElsevierGulliver"/>
              </a:rPr>
              <a:t>.</a:t>
            </a:r>
            <a:endParaRPr lang="en-US" dirty="0"/>
          </a:p>
        </p:txBody>
      </p:sp>
      <p:pic>
        <p:nvPicPr>
          <p:cNvPr id="10" name="Picture 9">
            <a:extLst>
              <a:ext uri="{FF2B5EF4-FFF2-40B4-BE49-F238E27FC236}">
                <a16:creationId xmlns:a16="http://schemas.microsoft.com/office/drawing/2014/main" id="{6D837F77-9B9B-1808-D96D-6CCF9A7B558F}"/>
              </a:ext>
            </a:extLst>
          </p:cNvPr>
          <p:cNvPicPr>
            <a:picLocks noChangeAspect="1"/>
          </p:cNvPicPr>
          <p:nvPr/>
        </p:nvPicPr>
        <p:blipFill>
          <a:blip r:embed="rId4"/>
          <a:stretch>
            <a:fillRect/>
          </a:stretch>
        </p:blipFill>
        <p:spPr>
          <a:xfrm>
            <a:off x="5140935" y="1279325"/>
            <a:ext cx="3890462" cy="2142043"/>
          </a:xfrm>
          <a:prstGeom prst="rect">
            <a:avLst/>
          </a:prstGeom>
          <a:ln>
            <a:noFill/>
          </a:ln>
          <a:effectLst>
            <a:softEdge rad="112500"/>
          </a:effectLst>
        </p:spPr>
      </p:pic>
      <p:sp>
        <p:nvSpPr>
          <p:cNvPr id="15" name="TextBox 14">
            <a:extLst>
              <a:ext uri="{FF2B5EF4-FFF2-40B4-BE49-F238E27FC236}">
                <a16:creationId xmlns:a16="http://schemas.microsoft.com/office/drawing/2014/main" id="{EA5F117B-9BD3-C2D3-F8C5-9CB67AC407B6}"/>
              </a:ext>
            </a:extLst>
          </p:cNvPr>
          <p:cNvSpPr txBox="1"/>
          <p:nvPr/>
        </p:nvSpPr>
        <p:spPr>
          <a:xfrm>
            <a:off x="167234" y="1998469"/>
            <a:ext cx="4798906" cy="523220"/>
          </a:xfrm>
          <a:prstGeom prst="rect">
            <a:avLst/>
          </a:prstGeom>
          <a:noFill/>
        </p:spPr>
        <p:txBody>
          <a:bodyPr wrap="square">
            <a:spAutoFit/>
          </a:bodyPr>
          <a:lstStyle/>
          <a:p>
            <a:r>
              <a:rPr lang="en-US" b="0" i="0">
                <a:solidFill>
                  <a:srgbClr val="1F1F1F"/>
                </a:solidFill>
                <a:effectLst/>
                <a:latin typeface="ElsevierGulliver"/>
              </a:rPr>
              <a:t>Four types of grey wolves such as </a:t>
            </a:r>
            <a:r>
              <a:rPr lang="en-US" b="1" i="0">
                <a:solidFill>
                  <a:srgbClr val="1F1F1F"/>
                </a:solidFill>
                <a:effectLst/>
                <a:latin typeface="ElsevierGulliver"/>
              </a:rPr>
              <a:t>alpha</a:t>
            </a:r>
            <a:r>
              <a:rPr lang="en-US" b="0" i="0">
                <a:solidFill>
                  <a:srgbClr val="1F1F1F"/>
                </a:solidFill>
                <a:effectLst/>
                <a:latin typeface="ElsevierGulliver"/>
              </a:rPr>
              <a:t>, </a:t>
            </a:r>
            <a:r>
              <a:rPr lang="en-US" b="1" i="0">
                <a:solidFill>
                  <a:srgbClr val="1F1F1F"/>
                </a:solidFill>
                <a:effectLst/>
                <a:latin typeface="ElsevierGulliver"/>
              </a:rPr>
              <a:t>beta</a:t>
            </a:r>
            <a:r>
              <a:rPr lang="en-US" b="0" i="0">
                <a:solidFill>
                  <a:srgbClr val="1F1F1F"/>
                </a:solidFill>
                <a:effectLst/>
                <a:latin typeface="ElsevierGulliver"/>
              </a:rPr>
              <a:t>, </a:t>
            </a:r>
            <a:r>
              <a:rPr lang="en-US" b="1" i="0">
                <a:solidFill>
                  <a:srgbClr val="1F1F1F"/>
                </a:solidFill>
                <a:effectLst/>
                <a:latin typeface="ElsevierGulliver"/>
              </a:rPr>
              <a:t>delta</a:t>
            </a:r>
            <a:r>
              <a:rPr lang="en-US" b="0" i="0">
                <a:solidFill>
                  <a:srgbClr val="1F1F1F"/>
                </a:solidFill>
                <a:effectLst/>
                <a:latin typeface="ElsevierGulliver"/>
              </a:rPr>
              <a:t>, and </a:t>
            </a:r>
            <a:r>
              <a:rPr lang="en-US" b="1" i="0">
                <a:solidFill>
                  <a:srgbClr val="1F1F1F"/>
                </a:solidFill>
                <a:effectLst/>
                <a:latin typeface="ElsevierGulliver"/>
              </a:rPr>
              <a:t>omega</a:t>
            </a:r>
            <a:r>
              <a:rPr lang="en-US" b="0" i="0">
                <a:solidFill>
                  <a:srgbClr val="1F1F1F"/>
                </a:solidFill>
                <a:effectLst/>
                <a:latin typeface="ElsevierGulliver"/>
              </a:rPr>
              <a:t> are employed for simulating the leadership hierarchy.</a:t>
            </a:r>
            <a:endParaRPr lang="en-US" dirty="0"/>
          </a:p>
        </p:txBody>
      </p:sp>
      <p:sp>
        <p:nvSpPr>
          <p:cNvPr id="17" name="TextBox 16">
            <a:extLst>
              <a:ext uri="{FF2B5EF4-FFF2-40B4-BE49-F238E27FC236}">
                <a16:creationId xmlns:a16="http://schemas.microsoft.com/office/drawing/2014/main" id="{A8EE12BE-31B8-CA16-7886-C0F92B2512A3}"/>
              </a:ext>
            </a:extLst>
          </p:cNvPr>
          <p:cNvSpPr txBox="1"/>
          <p:nvPr/>
        </p:nvSpPr>
        <p:spPr>
          <a:xfrm>
            <a:off x="112603" y="2571750"/>
            <a:ext cx="4798906" cy="523220"/>
          </a:xfrm>
          <a:prstGeom prst="rect">
            <a:avLst/>
          </a:prstGeom>
          <a:noFill/>
        </p:spPr>
        <p:txBody>
          <a:bodyPr wrap="square">
            <a:spAutoFit/>
          </a:bodyPr>
          <a:lstStyle/>
          <a:p>
            <a:r>
              <a:rPr lang="en-US" b="0" i="0" dirty="0">
                <a:solidFill>
                  <a:srgbClr val="1F1F1F"/>
                </a:solidFill>
                <a:effectLst/>
                <a:latin typeface="ElsevierGulliver"/>
              </a:rPr>
              <a:t>the three main steps of </a:t>
            </a:r>
            <a:r>
              <a:rPr lang="en-US" b="1" i="0" dirty="0">
                <a:solidFill>
                  <a:srgbClr val="1F1F1F"/>
                </a:solidFill>
                <a:effectLst/>
                <a:latin typeface="ElsevierGulliver"/>
              </a:rPr>
              <a:t>hunting</a:t>
            </a:r>
            <a:r>
              <a:rPr lang="en-US" b="0" i="0" dirty="0">
                <a:solidFill>
                  <a:srgbClr val="1F1F1F"/>
                </a:solidFill>
                <a:effectLst/>
                <a:latin typeface="ElsevierGulliver"/>
              </a:rPr>
              <a:t>, </a:t>
            </a:r>
            <a:r>
              <a:rPr lang="en-US" b="1" i="0" dirty="0">
                <a:solidFill>
                  <a:srgbClr val="1F1F1F"/>
                </a:solidFill>
                <a:effectLst/>
                <a:latin typeface="ElsevierGulliver"/>
              </a:rPr>
              <a:t>searching for prey</a:t>
            </a:r>
            <a:r>
              <a:rPr lang="en-US" b="0" i="0" dirty="0">
                <a:solidFill>
                  <a:srgbClr val="1F1F1F"/>
                </a:solidFill>
                <a:effectLst/>
                <a:latin typeface="ElsevierGulliver"/>
              </a:rPr>
              <a:t>, </a:t>
            </a:r>
            <a:r>
              <a:rPr lang="en-US" b="1" i="0" dirty="0">
                <a:solidFill>
                  <a:srgbClr val="1F1F1F"/>
                </a:solidFill>
                <a:effectLst/>
                <a:latin typeface="ElsevierGulliver"/>
              </a:rPr>
              <a:t>encircling prey</a:t>
            </a:r>
            <a:r>
              <a:rPr lang="en-US" b="0" i="0" dirty="0">
                <a:solidFill>
                  <a:srgbClr val="1F1F1F"/>
                </a:solidFill>
                <a:effectLst/>
                <a:latin typeface="ElsevierGulliver"/>
              </a:rPr>
              <a:t>, </a:t>
            </a:r>
            <a:r>
              <a:rPr lang="en-US" b="1" i="0" dirty="0">
                <a:solidFill>
                  <a:srgbClr val="1F1F1F"/>
                </a:solidFill>
                <a:effectLst/>
                <a:latin typeface="ElsevierGulliver"/>
              </a:rPr>
              <a:t>and attacking prey</a:t>
            </a:r>
            <a:r>
              <a:rPr lang="en-US" b="0" i="0" dirty="0">
                <a:solidFill>
                  <a:srgbClr val="1F1F1F"/>
                </a:solidFill>
                <a:effectLst/>
                <a:latin typeface="ElsevierGulliver"/>
              </a:rPr>
              <a:t>, are implemented.</a:t>
            </a:r>
            <a:endParaRPr lang="en-US" dirty="0"/>
          </a:p>
        </p:txBody>
      </p:sp>
      <p:sp>
        <p:nvSpPr>
          <p:cNvPr id="20" name="TextBox 19">
            <a:extLst>
              <a:ext uri="{FF2B5EF4-FFF2-40B4-BE49-F238E27FC236}">
                <a16:creationId xmlns:a16="http://schemas.microsoft.com/office/drawing/2014/main" id="{EF1B7D1E-BAE8-C3FA-5894-407761253E86}"/>
              </a:ext>
            </a:extLst>
          </p:cNvPr>
          <p:cNvSpPr txBox="1"/>
          <p:nvPr/>
        </p:nvSpPr>
        <p:spPr>
          <a:xfrm>
            <a:off x="112603" y="3337365"/>
            <a:ext cx="5306064" cy="1169551"/>
          </a:xfrm>
          <a:prstGeom prst="rect">
            <a:avLst/>
          </a:prstGeom>
          <a:noFill/>
        </p:spPr>
        <p:txBody>
          <a:bodyPr wrap="square">
            <a:spAutoFit/>
          </a:bodyPr>
          <a:lstStyle/>
          <a:p>
            <a:pPr algn="just"/>
            <a:r>
              <a:rPr lang="en-US" b="0" i="0" dirty="0">
                <a:solidFill>
                  <a:srgbClr val="1F1F1F"/>
                </a:solidFill>
                <a:effectLst/>
                <a:latin typeface="ElsevierGulliver"/>
              </a:rPr>
              <a:t> The algorithm is then benchmarked on 29 well-known test functions, and the results are verified by a comparative study with </a:t>
            </a:r>
            <a:r>
              <a:rPr lang="en-US" b="1" i="0" dirty="0">
                <a:solidFill>
                  <a:srgbClr val="1F1F1F"/>
                </a:solidFill>
                <a:effectLst/>
                <a:latin typeface="ElsevierGulliver"/>
              </a:rPr>
              <a:t>Particle Swarm Optimization (PSO), Gravitational Search Algorithm (GSA), Differential Evolution (DE), Evolutionary </a:t>
            </a:r>
            <a:r>
              <a:rPr lang="en-US" b="1" dirty="0">
                <a:latin typeface="ElsevierGulliver"/>
              </a:rPr>
              <a:t>Programming (EP), and Evolution Strategy (ES). </a:t>
            </a:r>
          </a:p>
        </p:txBody>
      </p:sp>
    </p:spTree>
    <p:extLst>
      <p:ext uri="{BB962C8B-B14F-4D97-AF65-F5344CB8AC3E}">
        <p14:creationId xmlns:p14="http://schemas.microsoft.com/office/powerpoint/2010/main" val="22053496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A40D6F0A-14D9-83EC-E579-93F4D9AB8737}"/>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95A8214-E52E-EC65-717B-DBD53A502B52}"/>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522D532E-AD86-2AFB-D223-06E5D92996BB}"/>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DD01A0B4-8D94-D5B1-4831-CE9EBD05FC5C}"/>
              </a:ext>
            </a:extLst>
          </p:cNvPr>
          <p:cNvSpPr txBox="1"/>
          <p:nvPr/>
        </p:nvSpPr>
        <p:spPr>
          <a:xfrm>
            <a:off x="1416912" y="320609"/>
            <a:ext cx="6656901"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 Mathematical Model (Technical Core)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FAC3777-E980-1980-FBD3-9A3733CED02B}"/>
                  </a:ext>
                </a:extLst>
              </p:cNvPr>
              <p:cNvSpPr txBox="1"/>
              <p:nvPr/>
            </p:nvSpPr>
            <p:spPr>
              <a:xfrm>
                <a:off x="231986" y="1398853"/>
                <a:ext cx="4798906" cy="307777"/>
              </a:xfrm>
              <a:prstGeom prst="rect">
                <a:avLst/>
              </a:prstGeom>
              <a:noFill/>
            </p:spPr>
            <p:txBody>
              <a:bodyPr wrap="square">
                <a:spAutoFit/>
              </a:bodyPr>
              <a:lstStyle/>
              <a:p>
                <a:r>
                  <a:rPr lang="en-US" b="0" i="0" dirty="0">
                    <a:solidFill>
                      <a:srgbClr val="0F1115"/>
                    </a:solidFill>
                    <a:effectLst/>
                    <a:latin typeface="Estedad"/>
                  </a:rPr>
                  <a:t>The fittest solution is considered the </a:t>
                </a:r>
                <a:r>
                  <a:rPr lang="en-US" b="1" i="0" dirty="0">
                    <a:solidFill>
                      <a:srgbClr val="0F1115"/>
                    </a:solidFill>
                    <a:effectLst/>
                    <a:latin typeface="Estedad"/>
                  </a:rPr>
                  <a:t>Alpha (</a:t>
                </a:r>
                <a14:m>
                  <m:oMath xmlns:m="http://schemas.openxmlformats.org/officeDocument/2006/math">
                    <m:r>
                      <a:rPr lang="en-US" i="1">
                        <a:latin typeface="Cambria Math" panose="02040503050406030204" pitchFamily="18" charset="0"/>
                      </a:rPr>
                      <m:t>𝛼</m:t>
                    </m:r>
                  </m:oMath>
                </a14:m>
                <a:r>
                  <a:rPr lang="en-US" b="1" i="0" dirty="0">
                    <a:solidFill>
                      <a:srgbClr val="0F1115"/>
                    </a:solidFill>
                    <a:effectLst/>
                    <a:latin typeface="Estedad"/>
                  </a:rPr>
                  <a:t>)</a:t>
                </a:r>
                <a:r>
                  <a:rPr lang="en-US" b="0" i="0" dirty="0">
                    <a:solidFill>
                      <a:srgbClr val="0F1115"/>
                    </a:solidFill>
                    <a:effectLst/>
                    <a:latin typeface="Estedad"/>
                  </a:rPr>
                  <a:t>.</a:t>
                </a:r>
                <a:endParaRPr lang="en-US" dirty="0"/>
              </a:p>
            </p:txBody>
          </p:sp>
        </mc:Choice>
        <mc:Fallback xmlns="">
          <p:sp>
            <p:nvSpPr>
              <p:cNvPr id="6" name="TextBox 5">
                <a:extLst>
                  <a:ext uri="{FF2B5EF4-FFF2-40B4-BE49-F238E27FC236}">
                    <a16:creationId xmlns:a16="http://schemas.microsoft.com/office/drawing/2014/main" id="{5FAC3777-E980-1980-FBD3-9A3733CED02B}"/>
                  </a:ext>
                </a:extLst>
              </p:cNvPr>
              <p:cNvSpPr txBox="1">
                <a:spLocks noRot="1" noChangeAspect="1" noMove="1" noResize="1" noEditPoints="1" noAdjustHandles="1" noChangeArrowheads="1" noChangeShapeType="1" noTextEdit="1"/>
              </p:cNvSpPr>
              <p:nvPr/>
            </p:nvSpPr>
            <p:spPr>
              <a:xfrm>
                <a:off x="231986" y="1398853"/>
                <a:ext cx="4798906" cy="307777"/>
              </a:xfrm>
              <a:prstGeom prst="rect">
                <a:avLst/>
              </a:prstGeom>
              <a:blipFill>
                <a:blip r:embed="rId3"/>
                <a:stretch>
                  <a:fillRect l="-381" b="-215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E894F40-B68E-0C27-ACBB-7F6450572777}"/>
                  </a:ext>
                </a:extLst>
              </p:cNvPr>
              <p:cNvSpPr txBox="1"/>
              <p:nvPr/>
            </p:nvSpPr>
            <p:spPr>
              <a:xfrm>
                <a:off x="231986" y="1807170"/>
                <a:ext cx="4798906" cy="307777"/>
              </a:xfrm>
              <a:prstGeom prst="rect">
                <a:avLst/>
              </a:prstGeom>
              <a:noFill/>
            </p:spPr>
            <p:txBody>
              <a:bodyPr wrap="square">
                <a:spAutoFit/>
              </a:bodyPr>
              <a:lstStyle/>
              <a:p>
                <a:r>
                  <a:rPr lang="en-US" b="0" i="0" dirty="0">
                    <a:solidFill>
                      <a:srgbClr val="0F1115"/>
                    </a:solidFill>
                    <a:effectLst/>
                    <a:latin typeface="Estedad"/>
                  </a:rPr>
                  <a:t>The second and third best solutions are </a:t>
                </a:r>
                <a:r>
                  <a:rPr lang="en-US" b="1" i="0" dirty="0">
                    <a:solidFill>
                      <a:srgbClr val="0F1115"/>
                    </a:solidFill>
                    <a:effectLst/>
                    <a:latin typeface="Estedad"/>
                  </a:rPr>
                  <a:t>Beta (</a:t>
                </a:r>
                <a14:m>
                  <m:oMath xmlns:m="http://schemas.openxmlformats.org/officeDocument/2006/math">
                    <m:r>
                      <a:rPr lang="en-US" i="1">
                        <a:latin typeface="Cambria Math" panose="02040503050406030204" pitchFamily="18" charset="0"/>
                      </a:rPr>
                      <m:t>𝛽</m:t>
                    </m:r>
                  </m:oMath>
                </a14:m>
                <a:r>
                  <a:rPr lang="en-US" b="1" i="0" dirty="0">
                    <a:solidFill>
                      <a:srgbClr val="0F1115"/>
                    </a:solidFill>
                    <a:effectLst/>
                    <a:latin typeface="Estedad"/>
                  </a:rPr>
                  <a:t>)</a:t>
                </a:r>
                <a:endParaRPr lang="en-US" dirty="0"/>
              </a:p>
            </p:txBody>
          </p:sp>
        </mc:Choice>
        <mc:Fallback xmlns="">
          <p:sp>
            <p:nvSpPr>
              <p:cNvPr id="9" name="TextBox 8">
                <a:extLst>
                  <a:ext uri="{FF2B5EF4-FFF2-40B4-BE49-F238E27FC236}">
                    <a16:creationId xmlns:a16="http://schemas.microsoft.com/office/drawing/2014/main" id="{EE894F40-B68E-0C27-ACBB-7F6450572777}"/>
                  </a:ext>
                </a:extLst>
              </p:cNvPr>
              <p:cNvSpPr txBox="1">
                <a:spLocks noRot="1" noChangeAspect="1" noMove="1" noResize="1" noEditPoints="1" noAdjustHandles="1" noChangeArrowheads="1" noChangeShapeType="1" noTextEdit="1"/>
              </p:cNvSpPr>
              <p:nvPr/>
            </p:nvSpPr>
            <p:spPr>
              <a:xfrm>
                <a:off x="231986" y="1807170"/>
                <a:ext cx="4798906" cy="307777"/>
              </a:xfrm>
              <a:prstGeom prst="rect">
                <a:avLst/>
              </a:prstGeom>
              <a:blipFill>
                <a:blip r:embed="rId4"/>
                <a:stretch>
                  <a:fillRect l="-381" b="-21569"/>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13BEA61A-262E-4277-29EE-F63C9132C03D}"/>
              </a:ext>
            </a:extLst>
          </p:cNvPr>
          <p:cNvPicPr>
            <a:picLocks noChangeAspect="1"/>
          </p:cNvPicPr>
          <p:nvPr/>
        </p:nvPicPr>
        <p:blipFill>
          <a:blip r:embed="rId5"/>
          <a:stretch>
            <a:fillRect/>
          </a:stretch>
        </p:blipFill>
        <p:spPr>
          <a:xfrm>
            <a:off x="5030892" y="1191671"/>
            <a:ext cx="3367800" cy="2245200"/>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2BCB7EB-4D6F-EA63-3E29-3D89D2AF3A2B}"/>
                  </a:ext>
                </a:extLst>
              </p:cNvPr>
              <p:cNvSpPr txBox="1"/>
              <p:nvPr/>
            </p:nvSpPr>
            <p:spPr>
              <a:xfrm>
                <a:off x="231986" y="2314271"/>
                <a:ext cx="4798906" cy="523220"/>
              </a:xfrm>
              <a:prstGeom prst="rect">
                <a:avLst/>
              </a:prstGeom>
              <a:noFill/>
            </p:spPr>
            <p:txBody>
              <a:bodyPr wrap="square">
                <a:spAutoFit/>
              </a:bodyPr>
              <a:lstStyle/>
              <a:p>
                <a:r>
                  <a:rPr lang="en-US" b="0" i="0" dirty="0">
                    <a:solidFill>
                      <a:srgbClr val="0F1115"/>
                    </a:solidFill>
                    <a:effectLst/>
                    <a:latin typeface="Estedad"/>
                  </a:rPr>
                  <a:t> and </a:t>
                </a:r>
                <a:r>
                  <a:rPr lang="en-US" b="1" i="0" dirty="0">
                    <a:solidFill>
                      <a:srgbClr val="0F1115"/>
                    </a:solidFill>
                    <a:effectLst/>
                    <a:latin typeface="Estedad"/>
                  </a:rPr>
                  <a:t>Delta (</a:t>
                </a:r>
                <a14:m>
                  <m:oMath xmlns:m="http://schemas.openxmlformats.org/officeDocument/2006/math">
                    <m:r>
                      <a:rPr lang="en-US" i="1">
                        <a:latin typeface="Cambria Math" panose="02040503050406030204" pitchFamily="18" charset="0"/>
                      </a:rPr>
                      <m:t>𝛿</m:t>
                    </m:r>
                  </m:oMath>
                </a14:m>
                <a:r>
                  <a:rPr lang="en-US" b="1" i="0" dirty="0">
                    <a:solidFill>
                      <a:srgbClr val="0F1115"/>
                    </a:solidFill>
                    <a:effectLst/>
                    <a:latin typeface="Estedad"/>
                  </a:rPr>
                  <a:t>)</a:t>
                </a:r>
                <a:r>
                  <a:rPr lang="en-US" b="0" i="0" dirty="0">
                    <a:solidFill>
                      <a:srgbClr val="0F1115"/>
                    </a:solidFill>
                    <a:effectLst/>
                    <a:latin typeface="Estedad"/>
                  </a:rPr>
                  <a:t>. The rest of the candidate solutions are assumed to be </a:t>
                </a:r>
                <a:r>
                  <a:rPr lang="en-US" b="1" i="0" dirty="0">
                    <a:solidFill>
                      <a:srgbClr val="0F1115"/>
                    </a:solidFill>
                    <a:effectLst/>
                    <a:latin typeface="Estedad"/>
                  </a:rPr>
                  <a:t>Omega (</a:t>
                </a:r>
                <a14:m>
                  <m:oMath xmlns:m="http://schemas.openxmlformats.org/officeDocument/2006/math">
                    <m:r>
                      <a:rPr lang="en-US" i="1">
                        <a:latin typeface="Cambria Math" panose="02040503050406030204" pitchFamily="18" charset="0"/>
                      </a:rPr>
                      <m:t>𝜔</m:t>
                    </m:r>
                  </m:oMath>
                </a14:m>
                <a:r>
                  <a:rPr lang="en-US" b="1" i="0" dirty="0">
                    <a:solidFill>
                      <a:srgbClr val="0F1115"/>
                    </a:solidFill>
                    <a:effectLst/>
                    <a:latin typeface="Estedad"/>
                  </a:rPr>
                  <a:t>)</a:t>
                </a:r>
                <a:r>
                  <a:rPr lang="en-US" b="0" i="0" dirty="0">
                    <a:solidFill>
                      <a:srgbClr val="0F1115"/>
                    </a:solidFill>
                    <a:effectLst/>
                    <a:latin typeface="Estedad"/>
                  </a:rPr>
                  <a:t>.</a:t>
                </a:r>
                <a:endParaRPr lang="en-US" dirty="0"/>
              </a:p>
            </p:txBody>
          </p:sp>
        </mc:Choice>
        <mc:Fallback xmlns="">
          <p:sp>
            <p:nvSpPr>
              <p:cNvPr id="16" name="TextBox 15">
                <a:extLst>
                  <a:ext uri="{FF2B5EF4-FFF2-40B4-BE49-F238E27FC236}">
                    <a16:creationId xmlns:a16="http://schemas.microsoft.com/office/drawing/2014/main" id="{92BCB7EB-4D6F-EA63-3E29-3D89D2AF3A2B}"/>
                  </a:ext>
                </a:extLst>
              </p:cNvPr>
              <p:cNvSpPr txBox="1">
                <a:spLocks noRot="1" noChangeAspect="1" noMove="1" noResize="1" noEditPoints="1" noAdjustHandles="1" noChangeArrowheads="1" noChangeShapeType="1" noTextEdit="1"/>
              </p:cNvSpPr>
              <p:nvPr/>
            </p:nvSpPr>
            <p:spPr>
              <a:xfrm>
                <a:off x="231986" y="2314271"/>
                <a:ext cx="4798906" cy="523220"/>
              </a:xfrm>
              <a:prstGeom prst="rect">
                <a:avLst/>
              </a:prstGeom>
              <a:blipFill>
                <a:blip r:embed="rId6"/>
                <a:stretch>
                  <a:fillRect l="-381" t="-2353" b="-1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CF37E0F-4E4E-6FFA-2E47-5045A255A888}"/>
                  </a:ext>
                </a:extLst>
              </p:cNvPr>
              <p:cNvSpPr txBox="1"/>
              <p:nvPr/>
            </p:nvSpPr>
            <p:spPr>
              <a:xfrm>
                <a:off x="313265" y="3644053"/>
                <a:ext cx="7096762" cy="307777"/>
              </a:xfrm>
              <a:prstGeom prst="rect">
                <a:avLst/>
              </a:prstGeom>
              <a:noFill/>
            </p:spPr>
            <p:txBody>
              <a:bodyPr wrap="square">
                <a:spAutoFit/>
              </a:bodyPr>
              <a:lstStyle/>
              <a:p>
                <a:r>
                  <a:rPr lang="en-US" b="0" i="0" dirty="0">
                    <a:solidFill>
                      <a:srgbClr val="0F1115"/>
                    </a:solidFill>
                    <a:effectLst/>
                    <a:latin typeface="Estedad"/>
                  </a:rPr>
                  <a:t>In GWO, hunting (optimization) is guided by </a:t>
                </a:r>
                <a14:m>
                  <m:oMath xmlns:m="http://schemas.openxmlformats.org/officeDocument/2006/math">
                    <m:r>
                      <a:rPr lang="en-US" i="1">
                        <a:latin typeface="Cambria Math" panose="02040503050406030204" pitchFamily="18" charset="0"/>
                      </a:rPr>
                      <m:t>𝛼</m:t>
                    </m:r>
                  </m:oMath>
                </a14:m>
                <a:r>
                  <a:rPr lang="en-US" b="0" i="0" dirty="0">
                    <a:solidFill>
                      <a:srgbClr val="0F1115"/>
                    </a:solidFill>
                    <a:effectLst/>
                    <a:latin typeface="Estedad"/>
                  </a:rPr>
                  <a:t>, </a:t>
                </a:r>
                <a14:m>
                  <m:oMath xmlns:m="http://schemas.openxmlformats.org/officeDocument/2006/math">
                    <m:r>
                      <a:rPr lang="en-US" i="1">
                        <a:latin typeface="Cambria Math" panose="02040503050406030204" pitchFamily="18" charset="0"/>
                      </a:rPr>
                      <m:t>𝛽</m:t>
                    </m:r>
                  </m:oMath>
                </a14:m>
                <a:r>
                  <a:rPr lang="en-US" b="0" i="0" dirty="0">
                    <a:solidFill>
                      <a:srgbClr val="0F1115"/>
                    </a:solidFill>
                    <a:effectLst/>
                    <a:latin typeface="Estedad"/>
                  </a:rPr>
                  <a:t>, and </a:t>
                </a:r>
                <a14:m>
                  <m:oMath xmlns:m="http://schemas.openxmlformats.org/officeDocument/2006/math">
                    <m:r>
                      <a:rPr lang="en-US" i="1">
                        <a:latin typeface="Cambria Math" panose="02040503050406030204" pitchFamily="18" charset="0"/>
                      </a:rPr>
                      <m:t>𝛿</m:t>
                    </m:r>
                  </m:oMath>
                </a14:m>
                <a:r>
                  <a:rPr lang="en-US" b="0" i="0" dirty="0">
                    <a:solidFill>
                      <a:srgbClr val="0F1115"/>
                    </a:solidFill>
                    <a:effectLst/>
                    <a:latin typeface="Estedad"/>
                  </a:rPr>
                  <a:t>, while </a:t>
                </a:r>
                <a14:m>
                  <m:oMath xmlns:m="http://schemas.openxmlformats.org/officeDocument/2006/math">
                    <m:r>
                      <a:rPr lang="en-US" i="1">
                        <a:latin typeface="Cambria Math" panose="02040503050406030204" pitchFamily="18" charset="0"/>
                      </a:rPr>
                      <m:t>𝜔</m:t>
                    </m:r>
                  </m:oMath>
                </a14:m>
                <a:r>
                  <a:rPr lang="en-US" b="0" i="0" dirty="0">
                    <a:solidFill>
                      <a:srgbClr val="0F1115"/>
                    </a:solidFill>
                    <a:effectLst/>
                    <a:latin typeface="Estedad"/>
                  </a:rPr>
                  <a:t>wolves follow them.</a:t>
                </a:r>
                <a:endParaRPr lang="en-US" dirty="0"/>
              </a:p>
            </p:txBody>
          </p:sp>
        </mc:Choice>
        <mc:Fallback xmlns="">
          <p:sp>
            <p:nvSpPr>
              <p:cNvPr id="19" name="TextBox 18">
                <a:extLst>
                  <a:ext uri="{FF2B5EF4-FFF2-40B4-BE49-F238E27FC236}">
                    <a16:creationId xmlns:a16="http://schemas.microsoft.com/office/drawing/2014/main" id="{2CF37E0F-4E4E-6FFA-2E47-5045A255A888}"/>
                  </a:ext>
                </a:extLst>
              </p:cNvPr>
              <p:cNvSpPr txBox="1">
                <a:spLocks noRot="1" noChangeAspect="1" noMove="1" noResize="1" noEditPoints="1" noAdjustHandles="1" noChangeArrowheads="1" noChangeShapeType="1" noTextEdit="1"/>
              </p:cNvSpPr>
              <p:nvPr/>
            </p:nvSpPr>
            <p:spPr>
              <a:xfrm>
                <a:off x="313265" y="3644053"/>
                <a:ext cx="7096762" cy="307777"/>
              </a:xfrm>
              <a:prstGeom prst="rect">
                <a:avLst/>
              </a:prstGeom>
              <a:blipFill>
                <a:blip r:embed="rId7"/>
                <a:stretch>
                  <a:fillRect l="-258" t="-2000" b="-22000"/>
                </a:stretch>
              </a:blipFill>
            </p:spPr>
            <p:txBody>
              <a:bodyPr/>
              <a:lstStyle/>
              <a:p>
                <a:r>
                  <a:rPr lang="en-US">
                    <a:noFill/>
                  </a:rPr>
                  <a:t> </a:t>
                </a:r>
              </a:p>
            </p:txBody>
          </p:sp>
        </mc:Fallback>
      </mc:AlternateContent>
    </p:spTree>
    <p:extLst>
      <p:ext uri="{BB962C8B-B14F-4D97-AF65-F5344CB8AC3E}">
        <p14:creationId xmlns:p14="http://schemas.microsoft.com/office/powerpoint/2010/main" val="17849042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D0578611-9FE6-B974-649D-02A330BD93A7}"/>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C6DB00C-7534-C93F-DABF-00C934A9A64D}"/>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DC528FEB-A91B-3B60-6EA3-38E86BC63880}"/>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38453F59-D4A2-28C9-D4F8-C815097D7749}"/>
              </a:ext>
            </a:extLst>
          </p:cNvPr>
          <p:cNvSpPr txBox="1"/>
          <p:nvPr/>
        </p:nvSpPr>
        <p:spPr>
          <a:xfrm>
            <a:off x="1416912" y="320609"/>
            <a:ext cx="6656901"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Social Hierarchy of Grey Wolves</a:t>
            </a:r>
          </a:p>
        </p:txBody>
      </p:sp>
      <p:pic>
        <p:nvPicPr>
          <p:cNvPr id="4" name="Picture 3">
            <a:extLst>
              <a:ext uri="{FF2B5EF4-FFF2-40B4-BE49-F238E27FC236}">
                <a16:creationId xmlns:a16="http://schemas.microsoft.com/office/drawing/2014/main" id="{E64D5F34-1852-298A-D391-A594EC816D23}"/>
              </a:ext>
            </a:extLst>
          </p:cNvPr>
          <p:cNvPicPr>
            <a:picLocks noChangeAspect="1"/>
          </p:cNvPicPr>
          <p:nvPr/>
        </p:nvPicPr>
        <p:blipFill>
          <a:blip r:embed="rId3"/>
          <a:stretch>
            <a:fillRect/>
          </a:stretch>
        </p:blipFill>
        <p:spPr>
          <a:xfrm>
            <a:off x="4856479" y="2050345"/>
            <a:ext cx="3884445" cy="1497783"/>
          </a:xfrm>
          <a:prstGeom prst="rect">
            <a:avLst/>
          </a:prstGeom>
        </p:spPr>
      </p:pic>
      <p:sp>
        <p:nvSpPr>
          <p:cNvPr id="8" name="TextBox 7">
            <a:extLst>
              <a:ext uri="{FF2B5EF4-FFF2-40B4-BE49-F238E27FC236}">
                <a16:creationId xmlns:a16="http://schemas.microsoft.com/office/drawing/2014/main" id="{02303C6D-CB09-A6E6-8E7B-DBE1F3E7F2B9}"/>
              </a:ext>
            </a:extLst>
          </p:cNvPr>
          <p:cNvSpPr txBox="1"/>
          <p:nvPr/>
        </p:nvSpPr>
        <p:spPr>
          <a:xfrm>
            <a:off x="57573" y="1137243"/>
            <a:ext cx="7880774" cy="1107996"/>
          </a:xfrm>
          <a:prstGeom prst="rect">
            <a:avLst/>
          </a:prstGeom>
          <a:noFill/>
        </p:spPr>
        <p:txBody>
          <a:bodyPr wrap="square">
            <a:spAutoFit/>
          </a:bodyPr>
          <a:lstStyle/>
          <a:p>
            <a:pPr algn="l">
              <a:spcBef>
                <a:spcPts val="1200"/>
              </a:spcBef>
              <a:spcAft>
                <a:spcPts val="1200"/>
              </a:spcAft>
              <a:buNone/>
            </a:pPr>
            <a:r>
              <a:rPr lang="en-US" b="0" i="0" dirty="0">
                <a:solidFill>
                  <a:srgbClr val="0F1115"/>
                </a:solidFill>
                <a:effectLst/>
                <a:latin typeface="Estedad"/>
              </a:rPr>
              <a:t>The text describes the strict dominance hierarchy of the pack, which is the primary biological inspiration for the GWO algorithm. It is divided into four levels:</a:t>
            </a:r>
          </a:p>
          <a:p>
            <a:pPr>
              <a:buNone/>
            </a:pPr>
            <a:br>
              <a:rPr lang="en-US" dirty="0"/>
            </a:b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F7D5CD1-3E9B-D1F5-1106-A31839DAF8E6}"/>
                  </a:ext>
                </a:extLst>
              </p:cNvPr>
              <p:cNvSpPr txBox="1"/>
              <p:nvPr/>
            </p:nvSpPr>
            <p:spPr>
              <a:xfrm>
                <a:off x="291253" y="1691241"/>
                <a:ext cx="4798906" cy="2828147"/>
              </a:xfrm>
              <a:prstGeom prst="rect">
                <a:avLst/>
              </a:prstGeom>
              <a:noFill/>
            </p:spPr>
            <p:txBody>
              <a:bodyPr wrap="square">
                <a:spAutoFit/>
              </a:bodyPr>
              <a:lstStyle/>
              <a:p>
                <a:pPr>
                  <a:lnSpc>
                    <a:spcPct val="150000"/>
                  </a:lnSpc>
                  <a:buNone/>
                </a:pPr>
                <a:r>
                  <a:rPr lang="en-US" sz="1200" b="1" dirty="0"/>
                  <a:t>The Alpha (</a:t>
                </a:r>
                <a14:m>
                  <m:oMath xmlns:m="http://schemas.openxmlformats.org/officeDocument/2006/math">
                    <m:r>
                      <a:rPr lang="en-US" sz="1200" i="1">
                        <a:latin typeface="Cambria Math" panose="02040503050406030204" pitchFamily="18" charset="0"/>
                      </a:rPr>
                      <m:t>𝛼</m:t>
                    </m:r>
                  </m:oMath>
                </a14:m>
                <a:r>
                  <a:rPr lang="en-US" sz="1200" b="1" dirty="0"/>
                  <a:t>)</a:t>
                </a:r>
                <a:endParaRPr lang="en-US" sz="1200" dirty="0"/>
              </a:p>
              <a:p>
                <a:pPr marL="171450" indent="-171450">
                  <a:lnSpc>
                    <a:spcPct val="150000"/>
                  </a:lnSpc>
                  <a:buFont typeface="Arial" panose="020B0604020202020204" pitchFamily="34" charset="0"/>
                  <a:buChar char="•"/>
                </a:pPr>
                <a:r>
                  <a:rPr lang="en-US" sz="1200" b="1" dirty="0"/>
                  <a:t>Role:</a:t>
                </a:r>
                <a:r>
                  <a:rPr lang="en-US" sz="1200" dirty="0"/>
                  <a:t> The leaders (one male and one female). They make key decisions about hunting, sleeping locations, and waking times.</a:t>
                </a:r>
              </a:p>
              <a:p>
                <a:pPr marL="171450" indent="-171450">
                  <a:lnSpc>
                    <a:spcPct val="150000"/>
                  </a:lnSpc>
                  <a:buFont typeface="Arial" panose="020B0604020202020204" pitchFamily="34" charset="0"/>
                  <a:buChar char="•"/>
                </a:pPr>
                <a:r>
                  <a:rPr lang="en-US" sz="1200" b="1" dirty="0"/>
                  <a:t>Behavior:</a:t>
                </a:r>
                <a:r>
                  <a:rPr lang="en-US" sz="1200" dirty="0"/>
                  <a:t> Their decisions are dictated to the pack, though democratic behavior is sometimes observed. The pack acknowledges them by holding their tails down.</a:t>
                </a:r>
              </a:p>
              <a:p>
                <a:pPr marL="171450" indent="-171450">
                  <a:lnSpc>
                    <a:spcPct val="150000"/>
                  </a:lnSpc>
                  <a:buFont typeface="Arial" panose="020B0604020202020204" pitchFamily="34" charset="0"/>
                  <a:buChar char="•"/>
                </a:pPr>
                <a:r>
                  <a:rPr lang="en-US" sz="1200" b="1" dirty="0"/>
                  <a:t>Key Trait:</a:t>
                </a:r>
                <a:r>
                  <a:rPr lang="en-US" sz="1200" dirty="0"/>
                  <a:t> The Alpha is not necessarily the strongest wolf, but the </a:t>
                </a:r>
                <a:r>
                  <a:rPr lang="en-US" sz="1200" b="1" dirty="0"/>
                  <a:t>best manager</a:t>
                </a:r>
                <a:r>
                  <a:rPr lang="en-US" sz="1200" dirty="0"/>
                  <a:t>. This shows that organization and discipline are more important than pure strength.</a:t>
                </a:r>
              </a:p>
              <a:p>
                <a:pPr marL="171450" indent="-171450">
                  <a:lnSpc>
                    <a:spcPct val="150000"/>
                  </a:lnSpc>
                  <a:buFont typeface="Arial" panose="020B0604020202020204" pitchFamily="34" charset="0"/>
                  <a:buChar char="•"/>
                </a:pPr>
                <a:r>
                  <a:rPr lang="en-US" sz="1200" b="1" dirty="0"/>
                  <a:t>Algorithm Mapping:</a:t>
                </a:r>
                <a:r>
                  <a:rPr lang="en-US" sz="1200" dirty="0"/>
                  <a:t> Represents the </a:t>
                </a:r>
                <a:r>
                  <a:rPr lang="en-US" sz="1200" b="1" dirty="0"/>
                  <a:t>Best Solution</a:t>
                </a:r>
                <a:r>
                  <a:rPr lang="en-US" sz="1200" dirty="0"/>
                  <a:t> found so far.</a:t>
                </a:r>
              </a:p>
            </p:txBody>
          </p:sp>
        </mc:Choice>
        <mc:Fallback xmlns="">
          <p:sp>
            <p:nvSpPr>
              <p:cNvPr id="11" name="TextBox 10">
                <a:extLst>
                  <a:ext uri="{FF2B5EF4-FFF2-40B4-BE49-F238E27FC236}">
                    <a16:creationId xmlns:a16="http://schemas.microsoft.com/office/drawing/2014/main" id="{6F7D5CD1-3E9B-D1F5-1106-A31839DAF8E6}"/>
                  </a:ext>
                </a:extLst>
              </p:cNvPr>
              <p:cNvSpPr txBox="1">
                <a:spLocks noRot="1" noChangeAspect="1" noMove="1" noResize="1" noEditPoints="1" noAdjustHandles="1" noChangeArrowheads="1" noChangeShapeType="1" noTextEdit="1"/>
              </p:cNvSpPr>
              <p:nvPr/>
            </p:nvSpPr>
            <p:spPr>
              <a:xfrm>
                <a:off x="291253" y="1691241"/>
                <a:ext cx="4798906" cy="2828147"/>
              </a:xfrm>
              <a:prstGeom prst="rect">
                <a:avLst/>
              </a:prstGeom>
              <a:blipFill>
                <a:blip r:embed="rId4"/>
                <a:stretch>
                  <a:fillRect l="-127" r="-635" b="-647"/>
                </a:stretch>
              </a:blipFill>
            </p:spPr>
            <p:txBody>
              <a:bodyPr/>
              <a:lstStyle/>
              <a:p>
                <a:r>
                  <a:rPr lang="en-US">
                    <a:noFill/>
                  </a:rPr>
                  <a:t> </a:t>
                </a:r>
              </a:p>
            </p:txBody>
          </p:sp>
        </mc:Fallback>
      </mc:AlternateContent>
    </p:spTree>
    <p:extLst>
      <p:ext uri="{BB962C8B-B14F-4D97-AF65-F5344CB8AC3E}">
        <p14:creationId xmlns:p14="http://schemas.microsoft.com/office/powerpoint/2010/main" val="3858159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73AAAEA-EFE6-68FA-4E1D-6A1388B7DAE6}"/>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613686C1-7941-4523-632A-6B8E3D4EFB5F}"/>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2EF78BF1-39EE-4B44-6DA0-056086C326A0}"/>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0438FD50-8724-145F-F661-59FB61F86DE6}"/>
              </a:ext>
            </a:extLst>
          </p:cNvPr>
          <p:cNvSpPr txBox="1"/>
          <p:nvPr/>
        </p:nvSpPr>
        <p:spPr>
          <a:xfrm>
            <a:off x="1416912" y="320609"/>
            <a:ext cx="6656901"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Social Hierarchy of Grey Wolves</a:t>
            </a:r>
            <a:r>
              <a:rPr lang="fa-IR" sz="2800" b="1" dirty="0">
                <a:solidFill>
                  <a:schemeClr val="bg1"/>
                </a:solidFill>
                <a:effectLst/>
                <a:latin typeface="Estedad"/>
              </a:rPr>
              <a:t>...</a:t>
            </a:r>
            <a:endParaRPr lang="en-US" sz="2800" b="1" dirty="0">
              <a:solidFill>
                <a:schemeClr val="bg1"/>
              </a:solidFill>
              <a:effectLst/>
              <a:latin typeface="Estedad"/>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18AF882-0388-5C38-21C0-F3133F66E977}"/>
                  </a:ext>
                </a:extLst>
              </p:cNvPr>
              <p:cNvSpPr txBox="1"/>
              <p:nvPr/>
            </p:nvSpPr>
            <p:spPr>
              <a:xfrm>
                <a:off x="125415" y="1062736"/>
                <a:ext cx="4798906" cy="1410835"/>
              </a:xfrm>
              <a:prstGeom prst="rect">
                <a:avLst/>
              </a:prstGeom>
              <a:noFill/>
            </p:spPr>
            <p:txBody>
              <a:bodyPr wrap="square">
                <a:spAutoFit/>
              </a:bodyPr>
              <a:lstStyle/>
              <a:p>
                <a:r>
                  <a:rPr lang="en-US" sz="1200" b="1" dirty="0"/>
                  <a:t>The Beta (</a:t>
                </a:r>
                <a14:m>
                  <m:oMath xmlns:m="http://schemas.openxmlformats.org/officeDocument/2006/math">
                    <m:r>
                      <a:rPr lang="en-US" i="1">
                        <a:latin typeface="Cambria Math" panose="02040503050406030204" pitchFamily="18" charset="0"/>
                      </a:rPr>
                      <m:t>𝛽</m:t>
                    </m:r>
                  </m:oMath>
                </a14:m>
                <a:r>
                  <a:rPr lang="en-US" sz="1200" b="1" dirty="0"/>
                  <a:t>)</a:t>
                </a:r>
                <a:endParaRPr lang="en-US" sz="1200" dirty="0"/>
              </a:p>
              <a:p>
                <a:pPr marL="171450" indent="-171450">
                  <a:buFont typeface="Arial" panose="020B0604020202020204" pitchFamily="34" charset="0"/>
                  <a:buChar char="•"/>
                </a:pPr>
                <a:r>
                  <a:rPr lang="en-US" sz="1200" b="1" dirty="0">
                    <a:solidFill>
                      <a:schemeClr val="accent6">
                        <a:lumMod val="50000"/>
                      </a:schemeClr>
                    </a:solidFill>
                  </a:rPr>
                  <a:t>Role</a:t>
                </a:r>
                <a:r>
                  <a:rPr lang="en-US" sz="1200" b="1" dirty="0"/>
                  <a:t>:</a:t>
                </a:r>
                <a:r>
                  <a:rPr lang="en-US" sz="1200" dirty="0"/>
                  <a:t> The second level. They act as advisors to the Alpha and help with decision-making.</a:t>
                </a:r>
              </a:p>
              <a:p>
                <a:pPr marL="171450" indent="-171450">
                  <a:buFont typeface="Arial" panose="020B0604020202020204" pitchFamily="34" charset="0"/>
                  <a:buChar char="•"/>
                </a:pPr>
                <a:r>
                  <a:rPr lang="en-US" sz="1200" b="1" dirty="0">
                    <a:solidFill>
                      <a:schemeClr val="accent6">
                        <a:lumMod val="50000"/>
                      </a:schemeClr>
                    </a:solidFill>
                  </a:rPr>
                  <a:t>Behavior</a:t>
                </a:r>
                <a:r>
                  <a:rPr lang="en-US" sz="1200" b="1" dirty="0"/>
                  <a:t>:</a:t>
                </a:r>
                <a:r>
                  <a:rPr lang="en-US" sz="1200" dirty="0"/>
                  <a:t> They respect the Alpha but command the lower-level wolves. They act as discipliners for the pack and reinforce the Alpha's commands.</a:t>
                </a:r>
              </a:p>
              <a:p>
                <a:pPr marL="171450" indent="-171450">
                  <a:buFont typeface="Arial" panose="020B0604020202020204" pitchFamily="34" charset="0"/>
                  <a:buChar char="•"/>
                </a:pPr>
                <a:r>
                  <a:rPr lang="en-US" sz="1200" b="1" dirty="0"/>
                  <a:t>Algorithm Mapping:</a:t>
                </a:r>
                <a:r>
                  <a:rPr lang="en-US" sz="1200" dirty="0"/>
                  <a:t> Represents the </a:t>
                </a:r>
                <a:r>
                  <a:rPr lang="en-US" sz="1200" b="1" dirty="0"/>
                  <a:t>Second Best Solution</a:t>
                </a:r>
                <a:r>
                  <a:rPr lang="en-US" sz="1200" dirty="0"/>
                  <a:t>.</a:t>
                </a:r>
              </a:p>
            </p:txBody>
          </p:sp>
        </mc:Choice>
        <mc:Fallback xmlns="">
          <p:sp>
            <p:nvSpPr>
              <p:cNvPr id="11" name="TextBox 10">
                <a:extLst>
                  <a:ext uri="{FF2B5EF4-FFF2-40B4-BE49-F238E27FC236}">
                    <a16:creationId xmlns:a16="http://schemas.microsoft.com/office/drawing/2014/main" id="{018AF882-0388-5C38-21C0-F3133F66E977}"/>
                  </a:ext>
                </a:extLst>
              </p:cNvPr>
              <p:cNvSpPr txBox="1">
                <a:spLocks noRot="1" noChangeAspect="1" noMove="1" noResize="1" noEditPoints="1" noAdjustHandles="1" noChangeArrowheads="1" noChangeShapeType="1" noTextEdit="1"/>
              </p:cNvSpPr>
              <p:nvPr/>
            </p:nvSpPr>
            <p:spPr>
              <a:xfrm>
                <a:off x="125415" y="1062736"/>
                <a:ext cx="4798906" cy="1410835"/>
              </a:xfrm>
              <a:prstGeom prst="rect">
                <a:avLst/>
              </a:prstGeom>
              <a:blipFill>
                <a:blip r:embed="rId3"/>
                <a:stretch>
                  <a:fillRect l="-127" b="-2155"/>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3525DCE9-69A7-3CD1-99A8-89477F77AA49}"/>
              </a:ext>
            </a:extLst>
          </p:cNvPr>
          <p:cNvPicPr>
            <a:picLocks noChangeAspect="1"/>
          </p:cNvPicPr>
          <p:nvPr/>
        </p:nvPicPr>
        <p:blipFill>
          <a:blip r:embed="rId4"/>
          <a:stretch>
            <a:fillRect/>
          </a:stretch>
        </p:blipFill>
        <p:spPr>
          <a:xfrm>
            <a:off x="4924321" y="1289685"/>
            <a:ext cx="4036800" cy="2389127"/>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D17AC11-75BD-1B4E-E74F-1C106F42332C}"/>
                  </a:ext>
                </a:extLst>
              </p:cNvPr>
              <p:cNvSpPr txBox="1"/>
              <p:nvPr/>
            </p:nvSpPr>
            <p:spPr>
              <a:xfrm>
                <a:off x="182879" y="2888166"/>
                <a:ext cx="4798906" cy="1446550"/>
              </a:xfrm>
              <a:prstGeom prst="rect">
                <a:avLst/>
              </a:prstGeom>
              <a:noFill/>
            </p:spPr>
            <p:txBody>
              <a:bodyPr wrap="square">
                <a:spAutoFit/>
              </a:bodyPr>
              <a:lstStyle/>
              <a:p>
                <a:pPr>
                  <a:buNone/>
                </a:pPr>
                <a:r>
                  <a:rPr lang="en-US" sz="1100" b="1" dirty="0"/>
                  <a:t>The Omega (</a:t>
                </a:r>
                <a14:m>
                  <m:oMath xmlns:m="http://schemas.openxmlformats.org/officeDocument/2006/math">
                    <m:r>
                      <a:rPr lang="en-US" sz="1100" i="1">
                        <a:latin typeface="Cambria Math" panose="02040503050406030204" pitchFamily="18" charset="0"/>
                      </a:rPr>
                      <m:t>𝜔</m:t>
                    </m:r>
                  </m:oMath>
                </a14:m>
                <a:r>
                  <a:rPr lang="en-US" sz="1100" b="1" dirty="0"/>
                  <a:t>)</a:t>
                </a:r>
                <a:endParaRPr lang="en-US" sz="1100" dirty="0"/>
              </a:p>
              <a:p>
                <a:pPr marL="171450" indent="-171450">
                  <a:buFont typeface="Arial" panose="020B0604020202020204" pitchFamily="34" charset="0"/>
                  <a:buChar char="•"/>
                </a:pPr>
                <a:r>
                  <a:rPr lang="en-US" sz="1100" b="1" dirty="0">
                    <a:solidFill>
                      <a:schemeClr val="accent6">
                        <a:lumMod val="50000"/>
                      </a:schemeClr>
                    </a:solidFill>
                  </a:rPr>
                  <a:t>Role</a:t>
                </a:r>
                <a:r>
                  <a:rPr lang="en-US" sz="1100" b="1" dirty="0"/>
                  <a:t>:</a:t>
                </a:r>
                <a:r>
                  <a:rPr lang="en-US" sz="1100" dirty="0"/>
                  <a:t> The lowest ranking wolves. They play the role of the scapegoat.</a:t>
                </a:r>
              </a:p>
              <a:p>
                <a:pPr marL="171450" indent="-171450">
                  <a:buFont typeface="Arial" panose="020B0604020202020204" pitchFamily="34" charset="0"/>
                  <a:buChar char="•"/>
                </a:pPr>
                <a:r>
                  <a:rPr lang="en-US" sz="1100" b="1" dirty="0">
                    <a:solidFill>
                      <a:schemeClr val="accent6">
                        <a:lumMod val="50000"/>
                      </a:schemeClr>
                    </a:solidFill>
                  </a:rPr>
                  <a:t>Behavior</a:t>
                </a:r>
                <a:r>
                  <a:rPr lang="en-US" sz="1100" b="1" dirty="0"/>
                  <a:t>:</a:t>
                </a:r>
                <a:r>
                  <a:rPr lang="en-US" sz="1100" dirty="0"/>
                  <a:t> They must submit to all other dominant wolves and are the last to eat. However, they are essential; if removed, the pack faces internal fighting. They absorb the frustration and violence of the pack, maintaining the dominance structure. They also act as babysitters.</a:t>
                </a:r>
              </a:p>
              <a:p>
                <a:pPr marL="171450" indent="-171450">
                  <a:buFont typeface="Arial" panose="020B0604020202020204" pitchFamily="34" charset="0"/>
                  <a:buChar char="•"/>
                </a:pPr>
                <a:r>
                  <a:rPr lang="en-US" sz="1100" b="1" dirty="0"/>
                  <a:t>Algorithm Mapping:</a:t>
                </a:r>
                <a:r>
                  <a:rPr lang="en-US" sz="1100" dirty="0"/>
                  <a:t> Represents the </a:t>
                </a:r>
                <a:r>
                  <a:rPr lang="en-US" sz="1100" b="1" dirty="0"/>
                  <a:t>Remaining Candidate Solutions (Followers)</a:t>
                </a:r>
                <a:r>
                  <a:rPr lang="en-US" sz="1100" dirty="0"/>
                  <a:t> that must submit to the top three leaders.</a:t>
                </a:r>
              </a:p>
            </p:txBody>
          </p:sp>
        </mc:Choice>
        <mc:Fallback xmlns="">
          <p:sp>
            <p:nvSpPr>
              <p:cNvPr id="12" name="TextBox 11">
                <a:extLst>
                  <a:ext uri="{FF2B5EF4-FFF2-40B4-BE49-F238E27FC236}">
                    <a16:creationId xmlns:a16="http://schemas.microsoft.com/office/drawing/2014/main" id="{3D17AC11-75BD-1B4E-E74F-1C106F42332C}"/>
                  </a:ext>
                </a:extLst>
              </p:cNvPr>
              <p:cNvSpPr txBox="1">
                <a:spLocks noRot="1" noChangeAspect="1" noMove="1" noResize="1" noEditPoints="1" noAdjustHandles="1" noChangeArrowheads="1" noChangeShapeType="1" noTextEdit="1"/>
              </p:cNvSpPr>
              <p:nvPr/>
            </p:nvSpPr>
            <p:spPr>
              <a:xfrm>
                <a:off x="182879" y="2888166"/>
                <a:ext cx="4798906" cy="1446550"/>
              </a:xfrm>
              <a:prstGeom prst="rect">
                <a:avLst/>
              </a:prstGeom>
              <a:blipFill>
                <a:blip r:embed="rId5"/>
                <a:stretch>
                  <a:fillRect t="-422" r="-381" b="-2110"/>
                </a:stretch>
              </a:blipFill>
            </p:spPr>
            <p:txBody>
              <a:bodyPr/>
              <a:lstStyle/>
              <a:p>
                <a:r>
                  <a:rPr lang="en-US">
                    <a:noFill/>
                  </a:rPr>
                  <a:t> </a:t>
                </a:r>
              </a:p>
            </p:txBody>
          </p:sp>
        </mc:Fallback>
      </mc:AlternateContent>
    </p:spTree>
    <p:extLst>
      <p:ext uri="{BB962C8B-B14F-4D97-AF65-F5344CB8AC3E}">
        <p14:creationId xmlns:p14="http://schemas.microsoft.com/office/powerpoint/2010/main" val="6804085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90495EBF-5A10-7E16-BF21-8C36C0A65FF3}"/>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C3535C59-543C-AE93-17C4-3B502352AB9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4B6EBDC2-6A01-1FBE-7864-71D4FEBBD84F}"/>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929174F7-CCB1-F52D-FCEF-18F819D75037}"/>
              </a:ext>
            </a:extLst>
          </p:cNvPr>
          <p:cNvSpPr txBox="1"/>
          <p:nvPr/>
        </p:nvSpPr>
        <p:spPr>
          <a:xfrm>
            <a:off x="1416912" y="320609"/>
            <a:ext cx="6656901"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Social Hierarchy of Grey Wolves</a:t>
            </a:r>
            <a:r>
              <a:rPr lang="fa-IR" sz="2800" b="1" dirty="0">
                <a:solidFill>
                  <a:schemeClr val="bg1"/>
                </a:solidFill>
                <a:effectLst/>
                <a:latin typeface="Estedad"/>
              </a:rPr>
              <a:t>...</a:t>
            </a:r>
            <a:endParaRPr lang="en-US" sz="2800" b="1" dirty="0">
              <a:solidFill>
                <a:schemeClr val="bg1"/>
              </a:solidFill>
              <a:effectLst/>
              <a:latin typeface="Estedad"/>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7193213-E095-FBF8-D4E6-DC2D261ED002}"/>
                  </a:ext>
                </a:extLst>
              </p:cNvPr>
              <p:cNvSpPr txBox="1"/>
              <p:nvPr/>
            </p:nvSpPr>
            <p:spPr>
              <a:xfrm>
                <a:off x="182879" y="1209882"/>
                <a:ext cx="4815841" cy="2862322"/>
              </a:xfrm>
              <a:prstGeom prst="rect">
                <a:avLst/>
              </a:prstGeom>
              <a:noFill/>
            </p:spPr>
            <p:txBody>
              <a:bodyPr wrap="square">
                <a:spAutoFit/>
              </a:bodyPr>
              <a:lstStyle/>
              <a:p>
                <a:pPr>
                  <a:buNone/>
                </a:pPr>
                <a:r>
                  <a:rPr lang="en-US" b="1" dirty="0"/>
                  <a:t>The Delta (</a:t>
                </a:r>
                <a14:m>
                  <m:oMath xmlns:m="http://schemas.openxmlformats.org/officeDocument/2006/math">
                    <m:r>
                      <a:rPr lang="en-US" i="1">
                        <a:latin typeface="Cambria Math" panose="02040503050406030204" pitchFamily="18" charset="0"/>
                      </a:rPr>
                      <m:t>𝛿</m:t>
                    </m:r>
                  </m:oMath>
                </a14:m>
                <a:r>
                  <a:rPr lang="en-US" b="1" dirty="0"/>
                  <a:t>)</a:t>
                </a:r>
                <a:endParaRPr lang="en-US" dirty="0"/>
              </a:p>
              <a:p>
                <a:pPr>
                  <a:buFont typeface="Arial" panose="020B0604020202020204" pitchFamily="34" charset="0"/>
                  <a:buChar char="•"/>
                </a:pPr>
                <a:r>
                  <a:rPr lang="en-US" b="1" dirty="0"/>
                  <a:t>Role:</a:t>
                </a:r>
                <a:r>
                  <a:rPr lang="en-US" dirty="0"/>
                  <a:t> Subordinate wolves (if not Alpha, Beta, or Omega). They submit to Alphas and Betas but dominate the Omegas.</a:t>
                </a:r>
              </a:p>
              <a:p>
                <a:pPr marL="742950" lvl="1" indent="-285750">
                  <a:buFont typeface="Arial" panose="020B0604020202020204" pitchFamily="34" charset="0"/>
                  <a:buChar char="•"/>
                </a:pPr>
                <a:r>
                  <a:rPr lang="en-US" b="1" dirty="0"/>
                  <a:t>Sub-</a:t>
                </a:r>
                <a:r>
                  <a:rPr lang="en-US" b="1" dirty="0" err="1"/>
                  <a:t>categoriesScouts</a:t>
                </a:r>
                <a:r>
                  <a:rPr lang="en-US" b="1" dirty="0"/>
                  <a:t>:</a:t>
                </a:r>
                <a:r>
                  <a:rPr lang="en-US" dirty="0"/>
                  <a:t> Watch territory boundaries and warn of danger.</a:t>
                </a:r>
              </a:p>
              <a:p>
                <a:pPr marL="742950" lvl="1" indent="-285750">
                  <a:buFont typeface="Arial" panose="020B0604020202020204" pitchFamily="34" charset="0"/>
                  <a:buChar char="•"/>
                </a:pPr>
                <a:r>
                  <a:rPr lang="en-US" b="1" dirty="0"/>
                  <a:t>Sentinels:</a:t>
                </a:r>
                <a:r>
                  <a:rPr lang="en-US" dirty="0"/>
                  <a:t> Protect the pack.</a:t>
                </a:r>
              </a:p>
              <a:p>
                <a:pPr marL="742950" lvl="1" indent="-285750">
                  <a:buFont typeface="Arial" panose="020B0604020202020204" pitchFamily="34" charset="0"/>
                  <a:buChar char="•"/>
                </a:pPr>
                <a:r>
                  <a:rPr lang="en-US" b="1" dirty="0"/>
                  <a:t>Elders:</a:t>
                </a:r>
                <a:r>
                  <a:rPr lang="en-US" dirty="0"/>
                  <a:t> Experienced wolves who used to be Alpha or Beta.</a:t>
                </a:r>
              </a:p>
              <a:p>
                <a:pPr marL="742950" lvl="1" indent="-285750">
                  <a:buFont typeface="Arial" panose="020B0604020202020204" pitchFamily="34" charset="0"/>
                  <a:buChar char="•"/>
                </a:pPr>
                <a:r>
                  <a:rPr lang="en-US" b="1" dirty="0"/>
                  <a:t>Hunters:</a:t>
                </a:r>
                <a:r>
                  <a:rPr lang="en-US" dirty="0"/>
                  <a:t> Help the leaders hunt and provide food.</a:t>
                </a:r>
              </a:p>
              <a:p>
                <a:pPr marL="742950" lvl="1" indent="-285750">
                  <a:buFont typeface="Arial" panose="020B0604020202020204" pitchFamily="34" charset="0"/>
                  <a:buChar char="•"/>
                </a:pPr>
                <a:r>
                  <a:rPr lang="en-US" b="1" dirty="0"/>
                  <a:t>Caretakers:</a:t>
                </a:r>
                <a:r>
                  <a:rPr lang="en-US" dirty="0"/>
                  <a:t> Care for weak, ill, and wounded wolves.</a:t>
                </a:r>
              </a:p>
              <a:p>
                <a:pPr>
                  <a:buFont typeface="Arial" panose="020B0604020202020204" pitchFamily="34" charset="0"/>
                  <a:buChar char="•"/>
                </a:pPr>
                <a:r>
                  <a:rPr lang="en-US" sz="1200" b="1" dirty="0"/>
                  <a:t>Algorithm Mapping:</a:t>
                </a:r>
                <a:r>
                  <a:rPr lang="en-US" sz="1200" dirty="0"/>
                  <a:t> Represents the </a:t>
                </a:r>
                <a:r>
                  <a:rPr lang="en-US" sz="1200" b="1" dirty="0"/>
                  <a:t>Third Best Solution</a:t>
                </a:r>
                <a:r>
                  <a:rPr lang="en-US" sz="1200" dirty="0"/>
                  <a:t>.</a:t>
                </a:r>
              </a:p>
            </p:txBody>
          </p:sp>
        </mc:Choice>
        <mc:Fallback xmlns="">
          <p:sp>
            <p:nvSpPr>
              <p:cNvPr id="4" name="TextBox 3">
                <a:extLst>
                  <a:ext uri="{FF2B5EF4-FFF2-40B4-BE49-F238E27FC236}">
                    <a16:creationId xmlns:a16="http://schemas.microsoft.com/office/drawing/2014/main" id="{D7193213-E095-FBF8-D4E6-DC2D261ED002}"/>
                  </a:ext>
                </a:extLst>
              </p:cNvPr>
              <p:cNvSpPr txBox="1">
                <a:spLocks noRot="1" noChangeAspect="1" noMove="1" noResize="1" noEditPoints="1" noAdjustHandles="1" noChangeArrowheads="1" noChangeShapeType="1" noTextEdit="1"/>
              </p:cNvSpPr>
              <p:nvPr/>
            </p:nvSpPr>
            <p:spPr>
              <a:xfrm>
                <a:off x="182879" y="1209882"/>
                <a:ext cx="4815841" cy="2862322"/>
              </a:xfrm>
              <a:prstGeom prst="rect">
                <a:avLst/>
              </a:prstGeom>
              <a:blipFill>
                <a:blip r:embed="rId3"/>
                <a:stretch>
                  <a:fillRect l="-380" t="-213" r="-127" b="-426"/>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00F34C9C-A75B-AF36-1663-B052DFE79307}"/>
              </a:ext>
            </a:extLst>
          </p:cNvPr>
          <p:cNvPicPr>
            <a:picLocks noChangeAspect="1"/>
          </p:cNvPicPr>
          <p:nvPr/>
        </p:nvPicPr>
        <p:blipFill>
          <a:blip r:embed="rId4"/>
          <a:stretch>
            <a:fillRect/>
          </a:stretch>
        </p:blipFill>
        <p:spPr>
          <a:xfrm>
            <a:off x="5454502" y="1423246"/>
            <a:ext cx="2761869" cy="2789767"/>
          </a:xfrm>
          <a:prstGeom prst="rect">
            <a:avLst/>
          </a:prstGeom>
        </p:spPr>
      </p:pic>
    </p:spTree>
    <p:extLst>
      <p:ext uri="{BB962C8B-B14F-4D97-AF65-F5344CB8AC3E}">
        <p14:creationId xmlns:p14="http://schemas.microsoft.com/office/powerpoint/2010/main" val="31178543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4543A2B-0AA3-7DD3-947C-8A3A2B90E79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A212079-1587-3EE6-E221-4A96579CF8B2}"/>
              </a:ext>
            </a:extLst>
          </p:cNvPr>
          <p:cNvPicPr>
            <a:picLocks noChangeAspect="1"/>
          </p:cNvPicPr>
          <p:nvPr/>
        </p:nvPicPr>
        <p:blipFill>
          <a:blip r:embed="rId3"/>
          <a:stretch>
            <a:fillRect/>
          </a:stretch>
        </p:blipFill>
        <p:spPr>
          <a:xfrm>
            <a:off x="4741914" y="1264310"/>
            <a:ext cx="4402085" cy="2481343"/>
          </a:xfrm>
          <a:prstGeom prst="rect">
            <a:avLst/>
          </a:prstGeom>
        </p:spPr>
      </p:pic>
      <p:sp>
        <p:nvSpPr>
          <p:cNvPr id="13" name="TextBox 12">
            <a:extLst>
              <a:ext uri="{FF2B5EF4-FFF2-40B4-BE49-F238E27FC236}">
                <a16:creationId xmlns:a16="http://schemas.microsoft.com/office/drawing/2014/main" id="{C0383E96-CC97-8D22-20DB-ABAA8B19358E}"/>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57B6DED9-7DC9-4793-6573-A02BA220C2B3}"/>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52DE351B-E1BB-714E-0FFB-EE2ACCD360C3}"/>
              </a:ext>
            </a:extLst>
          </p:cNvPr>
          <p:cNvSpPr txBox="1"/>
          <p:nvPr/>
        </p:nvSpPr>
        <p:spPr>
          <a:xfrm>
            <a:off x="1416913" y="320609"/>
            <a:ext cx="4293008"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Group Hunting Behavior</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73763DB-EB5B-71D2-AFA4-9D4FE1FFC94C}"/>
                  </a:ext>
                </a:extLst>
              </p:cNvPr>
              <p:cNvSpPr txBox="1"/>
              <p:nvPr/>
            </p:nvSpPr>
            <p:spPr>
              <a:xfrm>
                <a:off x="183625" y="1186815"/>
                <a:ext cx="4774455" cy="4185761"/>
              </a:xfrm>
              <a:prstGeom prst="rect">
                <a:avLst/>
              </a:prstGeom>
              <a:noFill/>
            </p:spPr>
            <p:txBody>
              <a:bodyPr wrap="square">
                <a:spAutoFit/>
              </a:bodyPr>
              <a:lstStyle/>
              <a:p>
                <a:pPr>
                  <a:buNone/>
                </a:pPr>
                <a:r>
                  <a:rPr lang="en-US" dirty="0"/>
                  <a:t>In addition to the hierarchy, the social behavior of group hunting is mathematically modeled. According to Muro et al., the hunting process consists of three main phases:</a:t>
                </a:r>
              </a:p>
              <a:p>
                <a:pPr>
                  <a:buFont typeface="Arial" panose="020B0604020202020204" pitchFamily="34" charset="0"/>
                  <a:buChar char="•"/>
                </a:pPr>
                <a:r>
                  <a:rPr lang="en-US" b="1" dirty="0">
                    <a:solidFill>
                      <a:schemeClr val="accent6">
                        <a:lumMod val="50000"/>
                      </a:schemeClr>
                    </a:solidFill>
                  </a:rPr>
                  <a:t>Phase 1: Tracking, Chasing, and Approaching the Prey</a:t>
                </a:r>
                <a:endParaRPr lang="en-US" dirty="0">
                  <a:solidFill>
                    <a:schemeClr val="accent6">
                      <a:lumMod val="50000"/>
                    </a:schemeClr>
                  </a:solidFill>
                </a:endParaRPr>
              </a:p>
              <a:p>
                <a:pPr marL="742950" lvl="1" indent="-285750">
                  <a:buFont typeface="Arial" panose="020B0604020202020204" pitchFamily="34" charset="0"/>
                  <a:buChar char="•"/>
                </a:pPr>
                <a:r>
                  <a:rPr lang="en-US" i="1" dirty="0"/>
                  <a:t>Algorithm Mapping:</a:t>
                </a:r>
                <a:r>
                  <a:rPr lang="en-US" dirty="0"/>
                  <a:t> Represents the </a:t>
                </a:r>
                <a:r>
                  <a:rPr lang="en-US" b="1" dirty="0"/>
                  <a:t>Exploration</a:t>
                </a:r>
                <a:r>
                  <a:rPr lang="en-US" dirty="0"/>
                  <a:t> phase (searching the global space for promising areas).</a:t>
                </a:r>
              </a:p>
              <a:p>
                <a:pPr>
                  <a:buFont typeface="Arial" panose="020B0604020202020204" pitchFamily="34" charset="0"/>
                  <a:buChar char="•"/>
                </a:pPr>
                <a:r>
                  <a:rPr lang="en-US" b="1" dirty="0">
                    <a:solidFill>
                      <a:schemeClr val="accent6">
                        <a:lumMod val="50000"/>
                      </a:schemeClr>
                    </a:solidFill>
                  </a:rPr>
                  <a:t>Phase 2: Pursuing, Encircling, and Harassing the Prey</a:t>
                </a:r>
                <a:endParaRPr lang="en-US" dirty="0">
                  <a:solidFill>
                    <a:schemeClr val="accent6">
                      <a:lumMod val="50000"/>
                    </a:schemeClr>
                  </a:solidFill>
                </a:endParaRPr>
              </a:p>
              <a:p>
                <a:pPr marL="742950" lvl="1" indent="-285750">
                  <a:buFont typeface="Arial" panose="020B0604020202020204" pitchFamily="34" charset="0"/>
                  <a:buChar char="•"/>
                </a:pPr>
                <a:r>
                  <a:rPr lang="en-US" i="1" dirty="0"/>
                  <a:t>Algorithm Mapping:</a:t>
                </a:r>
                <a:r>
                  <a:rPr lang="en-US" dirty="0"/>
                  <a:t> Represents the </a:t>
                </a:r>
                <a:r>
                  <a:rPr lang="en-US" b="1" dirty="0"/>
                  <a:t>Encircling</a:t>
                </a:r>
                <a:r>
                  <a:rPr lang="en-US" dirty="0"/>
                  <a:t> mechanism (mathematical equations 3.1 and 3.2).</a:t>
                </a:r>
              </a:p>
              <a:p>
                <a:pPr>
                  <a:buFont typeface="Arial" panose="020B0604020202020204" pitchFamily="34" charset="0"/>
                  <a:buChar char="•"/>
                </a:pPr>
                <a:r>
                  <a:rPr lang="en-US" b="1" dirty="0">
                    <a:solidFill>
                      <a:schemeClr val="accent6">
                        <a:lumMod val="50000"/>
                      </a:schemeClr>
                    </a:solidFill>
                  </a:rPr>
                  <a:t>Phase 3: Attack towards the Prey</a:t>
                </a:r>
                <a:endParaRPr lang="en-US" dirty="0">
                  <a:solidFill>
                    <a:schemeClr val="accent6">
                      <a:lumMod val="50000"/>
                    </a:schemeClr>
                  </a:solidFill>
                </a:endParaRPr>
              </a:p>
              <a:p>
                <a:pPr marL="742950" lvl="1" indent="-285750">
                  <a:buFont typeface="Arial" panose="020B0604020202020204" pitchFamily="34" charset="0"/>
                  <a:buChar char="•"/>
                </a:pPr>
                <a:r>
                  <a:rPr lang="en-US" i="1" dirty="0"/>
                  <a:t>Algorithm Mapping:</a:t>
                </a:r>
                <a:r>
                  <a:rPr lang="en-US" dirty="0"/>
                  <a:t> Represents the </a:t>
                </a:r>
                <a:r>
                  <a:rPr lang="en-US" b="1" dirty="0"/>
                  <a:t>Exploitation</a:t>
                </a:r>
                <a:r>
                  <a:rPr lang="en-US" dirty="0"/>
                  <a:t> phase (attacking the optimum by decreasing parameter </a:t>
                </a:r>
                <a14:m>
                  <m:oMath xmlns:m="http://schemas.openxmlformats.org/officeDocument/2006/math">
                    <m:r>
                      <a:rPr lang="en-US" i="1">
                        <a:latin typeface="Cambria Math" panose="02040503050406030204" pitchFamily="18" charset="0"/>
                      </a:rPr>
                      <m:t>𝑎</m:t>
                    </m:r>
                  </m:oMath>
                </a14:m>
                <a:r>
                  <a:rPr lang="en-US" dirty="0"/>
                  <a:t>and forcing </a:t>
                </a:r>
                <a14:m>
                  <m:oMath xmlns:m="http://schemas.openxmlformats.org/officeDocument/2006/math">
                    <m:r>
                      <a:rPr lang="en-US">
                        <a:latin typeface="Cambria Math" panose="02040503050406030204" pitchFamily="18" charset="0"/>
                      </a:rPr>
                      <m:t>∣</m:t>
                    </m:r>
                    <m:r>
                      <a:rPr lang="en-US" i="1">
                        <a:latin typeface="Cambria Math" panose="02040503050406030204" pitchFamily="18" charset="0"/>
                      </a:rPr>
                      <m:t>𝐴</m:t>
                    </m:r>
                    <m:r>
                      <a:rPr lang="en-US" i="0">
                        <a:latin typeface="Cambria Math" panose="02040503050406030204" pitchFamily="18" charset="0"/>
                      </a:rPr>
                      <m:t>∣&lt;</m:t>
                    </m:r>
                    <m:r>
                      <a:rPr lang="en-US" i="0">
                        <a:latin typeface="Cambria Math" panose="02040503050406030204" pitchFamily="18" charset="0"/>
                      </a:rPr>
                      <m:t>1</m:t>
                    </m:r>
                  </m:oMath>
                </a14:m>
                <a:r>
                  <a:rPr lang="en-US" dirty="0"/>
                  <a:t>).</a:t>
                </a:r>
              </a:p>
              <a:p>
                <a:pPr>
                  <a:buNone/>
                </a:pPr>
                <a:br>
                  <a:rPr lang="en-US" dirty="0"/>
                </a:br>
                <a:endParaRPr lang="en-US" dirty="0"/>
              </a:p>
            </p:txBody>
          </p:sp>
        </mc:Choice>
        <mc:Fallback>
          <p:sp>
            <p:nvSpPr>
              <p:cNvPr id="5" name="TextBox 4">
                <a:extLst>
                  <a:ext uri="{FF2B5EF4-FFF2-40B4-BE49-F238E27FC236}">
                    <a16:creationId xmlns:a16="http://schemas.microsoft.com/office/drawing/2014/main" id="{273763DB-EB5B-71D2-AFA4-9D4FE1FFC94C}"/>
                  </a:ext>
                </a:extLst>
              </p:cNvPr>
              <p:cNvSpPr txBox="1">
                <a:spLocks noRot="1" noChangeAspect="1" noMove="1" noResize="1" noEditPoints="1" noAdjustHandles="1" noChangeArrowheads="1" noChangeShapeType="1" noTextEdit="1"/>
              </p:cNvSpPr>
              <p:nvPr/>
            </p:nvSpPr>
            <p:spPr>
              <a:xfrm>
                <a:off x="183625" y="1186815"/>
                <a:ext cx="4774455" cy="4185761"/>
              </a:xfrm>
              <a:prstGeom prst="rect">
                <a:avLst/>
              </a:prstGeom>
              <a:blipFill>
                <a:blip r:embed="rId4"/>
                <a:stretch>
                  <a:fillRect l="-383" t="-292" r="-383"/>
                </a:stretch>
              </a:blipFill>
            </p:spPr>
            <p:txBody>
              <a:bodyPr/>
              <a:lstStyle/>
              <a:p>
                <a:r>
                  <a:rPr lang="en-US">
                    <a:noFill/>
                  </a:rPr>
                  <a:t> </a:t>
                </a:r>
              </a:p>
            </p:txBody>
          </p:sp>
        </mc:Fallback>
      </mc:AlternateContent>
    </p:spTree>
    <p:extLst>
      <p:ext uri="{BB962C8B-B14F-4D97-AF65-F5344CB8AC3E}">
        <p14:creationId xmlns:p14="http://schemas.microsoft.com/office/powerpoint/2010/main" val="1627031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0599B805-108D-CB2B-C10B-C98E50C5856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4D04456-8659-F09A-DE3A-82E32B20D565}"/>
              </a:ext>
            </a:extLst>
          </p:cNvPr>
          <p:cNvPicPr>
            <a:picLocks noChangeAspect="1"/>
          </p:cNvPicPr>
          <p:nvPr/>
        </p:nvPicPr>
        <p:blipFill>
          <a:blip r:embed="rId3"/>
          <a:stretch>
            <a:fillRect/>
          </a:stretch>
        </p:blipFill>
        <p:spPr>
          <a:xfrm>
            <a:off x="4499857" y="1132993"/>
            <a:ext cx="4109081" cy="3557205"/>
          </a:xfrm>
          <a:prstGeom prst="rect">
            <a:avLst/>
          </a:prstGeom>
        </p:spPr>
      </p:pic>
      <p:sp>
        <p:nvSpPr>
          <p:cNvPr id="13" name="TextBox 12">
            <a:extLst>
              <a:ext uri="{FF2B5EF4-FFF2-40B4-BE49-F238E27FC236}">
                <a16:creationId xmlns:a16="http://schemas.microsoft.com/office/drawing/2014/main" id="{889C52B2-3577-922A-461A-B640CBF273C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C8FF2861-5948-41B6-CF97-1EF6831782BF}"/>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4A825023-88A5-518D-BA31-63C725C67AA5}"/>
              </a:ext>
            </a:extLst>
          </p:cNvPr>
          <p:cNvSpPr txBox="1"/>
          <p:nvPr/>
        </p:nvSpPr>
        <p:spPr>
          <a:xfrm>
            <a:off x="1584960" y="287267"/>
            <a:ext cx="6086654"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Why This Matters for the Algorithm</a:t>
            </a:r>
          </a:p>
        </p:txBody>
      </p:sp>
      <p:sp>
        <p:nvSpPr>
          <p:cNvPr id="5" name="TextBox 4">
            <a:extLst>
              <a:ext uri="{FF2B5EF4-FFF2-40B4-BE49-F238E27FC236}">
                <a16:creationId xmlns:a16="http://schemas.microsoft.com/office/drawing/2014/main" id="{B3303ED4-7BBB-4DF9-D007-80D28DEB70AB}"/>
              </a:ext>
            </a:extLst>
          </p:cNvPr>
          <p:cNvSpPr txBox="1"/>
          <p:nvPr/>
        </p:nvSpPr>
        <p:spPr>
          <a:xfrm>
            <a:off x="150503" y="1023878"/>
            <a:ext cx="4719523" cy="3607206"/>
          </a:xfrm>
          <a:prstGeom prst="rect">
            <a:avLst/>
          </a:prstGeom>
          <a:noFill/>
        </p:spPr>
        <p:txBody>
          <a:bodyPr wrap="square">
            <a:spAutoFit/>
          </a:bodyPr>
          <a:lstStyle/>
          <a:p>
            <a:pPr>
              <a:lnSpc>
                <a:spcPct val="150000"/>
              </a:lnSpc>
              <a:buNone/>
            </a:pPr>
            <a:r>
              <a:rPr lang="en-US" b="1" dirty="0"/>
              <a:t>Information Sharing: </a:t>
            </a:r>
            <a:r>
              <a:rPr lang="en-US" dirty="0"/>
              <a:t>The top three wolves (α,β,δα,β,δ) hold the best knowledge about the prey's location (the global optimum).</a:t>
            </a:r>
          </a:p>
          <a:p>
            <a:pPr>
              <a:lnSpc>
                <a:spcPct val="150000"/>
              </a:lnSpc>
              <a:buNone/>
            </a:pPr>
            <a:endParaRPr lang="en-US" dirty="0"/>
          </a:p>
          <a:p>
            <a:pPr>
              <a:lnSpc>
                <a:spcPct val="150000"/>
              </a:lnSpc>
              <a:buNone/>
            </a:pPr>
            <a:r>
              <a:rPr lang="en-US" b="1" dirty="0"/>
              <a:t>Following the Leaders: </a:t>
            </a:r>
            <a:r>
              <a:rPr lang="en-US" dirty="0"/>
              <a:t>The rest of the wolves (</a:t>
            </a:r>
            <a:r>
              <a:rPr lang="en-US" dirty="0" err="1"/>
              <a:t>ωω</a:t>
            </a:r>
            <a:r>
              <a:rPr lang="en-US" dirty="0"/>
              <a:t>) update their positions based on the locations of these three leaders.</a:t>
            </a:r>
          </a:p>
          <a:p>
            <a:pPr>
              <a:lnSpc>
                <a:spcPct val="150000"/>
              </a:lnSpc>
              <a:buNone/>
            </a:pPr>
            <a:endParaRPr lang="en-US" dirty="0"/>
          </a:p>
          <a:p>
            <a:pPr>
              <a:lnSpc>
                <a:spcPct val="150000"/>
              </a:lnSpc>
              <a:buNone/>
            </a:pPr>
            <a:r>
              <a:rPr lang="en-US" b="1" dirty="0"/>
              <a:t>Balance: </a:t>
            </a:r>
            <a:r>
              <a:rPr lang="en-US" dirty="0"/>
              <a:t>This structure allows the algorithm to balance exploration (hunting/chasing) and exploitation (attacking) effectively.</a:t>
            </a:r>
          </a:p>
        </p:txBody>
      </p:sp>
    </p:spTree>
    <p:extLst>
      <p:ext uri="{BB962C8B-B14F-4D97-AF65-F5344CB8AC3E}">
        <p14:creationId xmlns:p14="http://schemas.microsoft.com/office/powerpoint/2010/main" val="2798340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08709DD0-512F-FDF4-F6F8-B72AA828798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71B47BA9-3324-83D3-52C2-77A15E8476D5}"/>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2D52C2D1-A8EB-EEDC-FA2F-4701ED5E8515}"/>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EFCADD63-8C89-F7D9-05D1-CE69782B35B0}"/>
              </a:ext>
            </a:extLst>
          </p:cNvPr>
          <p:cNvSpPr txBox="1"/>
          <p:nvPr/>
        </p:nvSpPr>
        <p:spPr>
          <a:xfrm>
            <a:off x="1415627" y="320609"/>
            <a:ext cx="4091093"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Modeling Social Hierarchy</a:t>
            </a:r>
          </a:p>
        </p:txBody>
      </p:sp>
      <p:sp>
        <p:nvSpPr>
          <p:cNvPr id="5" name="TextBox 4">
            <a:extLst>
              <a:ext uri="{FF2B5EF4-FFF2-40B4-BE49-F238E27FC236}">
                <a16:creationId xmlns:a16="http://schemas.microsoft.com/office/drawing/2014/main" id="{7DD1D916-F6DA-66E2-5651-9428878D46AF}"/>
              </a:ext>
            </a:extLst>
          </p:cNvPr>
          <p:cNvSpPr txBox="1"/>
          <p:nvPr/>
        </p:nvSpPr>
        <p:spPr>
          <a:xfrm>
            <a:off x="306290" y="1256118"/>
            <a:ext cx="7455950" cy="2314544"/>
          </a:xfrm>
          <a:prstGeom prst="rect">
            <a:avLst/>
          </a:prstGeom>
          <a:noFill/>
        </p:spPr>
        <p:txBody>
          <a:bodyPr wrap="square">
            <a:spAutoFit/>
          </a:bodyPr>
          <a:lstStyle/>
          <a:p>
            <a:pPr>
              <a:lnSpc>
                <a:spcPct val="150000"/>
              </a:lnSpc>
              <a:buNone/>
            </a:pPr>
            <a:r>
              <a:rPr lang="en-US" dirty="0"/>
              <a:t>The fittest solution is the </a:t>
            </a:r>
            <a:r>
              <a:rPr lang="en-US" b="1" dirty="0"/>
              <a:t>Alpha (αα).</a:t>
            </a:r>
          </a:p>
          <a:p>
            <a:pPr>
              <a:lnSpc>
                <a:spcPct val="150000"/>
              </a:lnSpc>
              <a:buNone/>
            </a:pPr>
            <a:endParaRPr lang="en-US" dirty="0"/>
          </a:p>
          <a:p>
            <a:pPr>
              <a:lnSpc>
                <a:spcPct val="150000"/>
              </a:lnSpc>
              <a:buNone/>
            </a:pPr>
            <a:r>
              <a:rPr lang="en-US" dirty="0"/>
              <a:t>The second and third best solutions are </a:t>
            </a:r>
            <a:r>
              <a:rPr lang="en-US" b="1" dirty="0"/>
              <a:t>Beta (ββ) and Delta (</a:t>
            </a:r>
            <a:r>
              <a:rPr lang="en-US" b="1" dirty="0" err="1"/>
              <a:t>δδ</a:t>
            </a:r>
            <a:r>
              <a:rPr lang="en-US" b="1" dirty="0"/>
              <a:t>).</a:t>
            </a:r>
          </a:p>
          <a:p>
            <a:pPr>
              <a:lnSpc>
                <a:spcPct val="150000"/>
              </a:lnSpc>
              <a:buNone/>
            </a:pPr>
            <a:endParaRPr lang="en-US" dirty="0"/>
          </a:p>
          <a:p>
            <a:pPr>
              <a:lnSpc>
                <a:spcPct val="150000"/>
              </a:lnSpc>
              <a:buNone/>
            </a:pPr>
            <a:r>
              <a:rPr lang="en-US" dirty="0"/>
              <a:t>The rest of the candidate solutions are </a:t>
            </a:r>
            <a:r>
              <a:rPr lang="en-US" b="1" dirty="0"/>
              <a:t>Omega (</a:t>
            </a:r>
            <a:r>
              <a:rPr lang="en-US" b="1" dirty="0" err="1"/>
              <a:t>ωω</a:t>
            </a:r>
            <a:r>
              <a:rPr lang="en-US" b="1" dirty="0"/>
              <a:t>).</a:t>
            </a:r>
          </a:p>
          <a:p>
            <a:pPr>
              <a:lnSpc>
                <a:spcPct val="150000"/>
              </a:lnSpc>
              <a:buNone/>
            </a:pPr>
            <a:endParaRPr lang="en-US" dirty="0"/>
          </a:p>
          <a:p>
            <a:pPr>
              <a:lnSpc>
                <a:spcPct val="150000"/>
              </a:lnSpc>
              <a:buNone/>
            </a:pPr>
            <a:r>
              <a:rPr lang="en-US" dirty="0"/>
              <a:t>The optimization (hunting) is guided </a:t>
            </a:r>
            <a:r>
              <a:rPr lang="en-US" b="1" dirty="0"/>
              <a:t>by αα, ββ, and </a:t>
            </a:r>
            <a:r>
              <a:rPr lang="en-US" b="1" dirty="0" err="1"/>
              <a:t>δδ</a:t>
            </a:r>
            <a:r>
              <a:rPr lang="en-US" b="1" dirty="0"/>
              <a:t>.</a:t>
            </a:r>
          </a:p>
        </p:txBody>
      </p:sp>
    </p:spTree>
    <p:extLst>
      <p:ext uri="{BB962C8B-B14F-4D97-AF65-F5344CB8AC3E}">
        <p14:creationId xmlns:p14="http://schemas.microsoft.com/office/powerpoint/2010/main" val="2035390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FE46F6AA-29DD-3120-83B9-F3E93AC91A48}"/>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164F90D3-AC70-507F-DB28-C768013422B1}"/>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53605685-560C-6C82-7C1E-5C162D1E6CBC}"/>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743AC98A-2EE7-8D37-707F-B52EB3FF3921}"/>
              </a:ext>
            </a:extLst>
          </p:cNvPr>
          <p:cNvSpPr txBox="1"/>
          <p:nvPr/>
        </p:nvSpPr>
        <p:spPr>
          <a:xfrm>
            <a:off x="1415627" y="320609"/>
            <a:ext cx="4091093"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Encircling Prey</a:t>
            </a:r>
          </a:p>
        </p:txBody>
      </p:sp>
      <p:sp>
        <p:nvSpPr>
          <p:cNvPr id="6" name="TextBox 5">
            <a:extLst>
              <a:ext uri="{FF2B5EF4-FFF2-40B4-BE49-F238E27FC236}">
                <a16:creationId xmlns:a16="http://schemas.microsoft.com/office/drawing/2014/main" id="{8A37E13F-9E3C-8046-0713-6119A5B78199}"/>
              </a:ext>
            </a:extLst>
          </p:cNvPr>
          <p:cNvSpPr txBox="1"/>
          <p:nvPr/>
        </p:nvSpPr>
        <p:spPr>
          <a:xfrm>
            <a:off x="116840" y="1327388"/>
            <a:ext cx="7686040" cy="523220"/>
          </a:xfrm>
          <a:prstGeom prst="rect">
            <a:avLst/>
          </a:prstGeom>
          <a:noFill/>
        </p:spPr>
        <p:txBody>
          <a:bodyPr wrap="square">
            <a:spAutoFit/>
          </a:bodyPr>
          <a:lstStyle/>
          <a:p>
            <a:r>
              <a:rPr lang="en-US" b="0" i="0" dirty="0">
                <a:solidFill>
                  <a:srgbClr val="1F1F1F"/>
                </a:solidFill>
                <a:effectLst/>
                <a:latin typeface="ElsevierGulliver"/>
              </a:rPr>
              <a:t>As mentioned above, grey wolves encircle prey during the hunt. In order to mathematically model encircling behavior the following equations are proposed:</a:t>
            </a:r>
            <a:endParaRPr lang="en-US" dirty="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2897136-9106-AB22-4D36-38D755AF6B8C}"/>
                  </a:ext>
                </a:extLst>
              </p:cNvPr>
              <p:cNvSpPr txBox="1"/>
              <p:nvPr/>
            </p:nvSpPr>
            <p:spPr>
              <a:xfrm>
                <a:off x="568959" y="2056770"/>
                <a:ext cx="2032002" cy="243015"/>
              </a:xfrm>
              <a:prstGeom prst="rect">
                <a:avLst/>
              </a:prstGeom>
              <a:noFill/>
            </p:spPr>
            <p:txBody>
              <a:bodyPr wrap="square" lIns="0" tIns="0" rIns="0" bIns="0" rtlCol="0">
                <a:spAutoFit/>
              </a:bodyPr>
              <a:lstStyle/>
              <a:p>
                <a14:m>
                  <m:oMath xmlns:m="http://schemas.openxmlformats.org/officeDocument/2006/math">
                    <m:acc>
                      <m:accPr>
                        <m:chr m:val="⃗"/>
                        <m:ctrlPr>
                          <a:rPr lang="en-US" i="1" smtClean="0">
                            <a:latin typeface="Cambria Math" panose="02040503050406030204" pitchFamily="18" charset="0"/>
                          </a:rPr>
                        </m:ctrlPr>
                      </m:accPr>
                      <m:e>
                        <m:r>
                          <a:rPr lang="en-US" i="1">
                            <a:latin typeface="Cambria Math" panose="02040503050406030204" pitchFamily="18" charset="0"/>
                          </a:rPr>
                          <m:t>𝐷</m:t>
                        </m:r>
                      </m:e>
                    </m:acc>
                    <m:r>
                      <a:rPr lang="fa-IR" b="0" i="1" smtClean="0">
                        <a:latin typeface="Cambria Math" panose="02040503050406030204" pitchFamily="18" charset="0"/>
                      </a:rPr>
                      <m:t>=|</m:t>
                    </m:r>
                    <m:acc>
                      <m:accPr>
                        <m:chr m:val="⃗"/>
                        <m:ctrlPr>
                          <a:rPr lang="en-US" i="1" smtClean="0">
                            <a:latin typeface="Cambria Math" panose="02040503050406030204" pitchFamily="18" charset="0"/>
                          </a:rPr>
                        </m:ctrlPr>
                      </m:accPr>
                      <m:e>
                        <m:r>
                          <a:rPr lang="en-US" b="0" i="1" smtClean="0">
                            <a:latin typeface="Cambria Math" panose="02040503050406030204" pitchFamily="18" charset="0"/>
                          </a:rPr>
                          <m:t>𝐶</m:t>
                        </m:r>
                      </m:e>
                    </m:acc>
                  </m:oMath>
                </a14:m>
                <a:r>
                  <a:rPr lang="en-US" dirty="0"/>
                  <a:t>.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𝑋</m:t>
                        </m:r>
                      </m:e>
                    </m:acc>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b="0" i="1" smtClean="0">
                            <a:latin typeface="Cambria Math" panose="02040503050406030204" pitchFamily="18" charset="0"/>
                          </a:rPr>
                          <m:t>𝑋</m:t>
                        </m:r>
                      </m:e>
                    </m:acc>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p:txBody>
          </p:sp>
        </mc:Choice>
        <mc:Fallback xmlns="">
          <p:sp>
            <p:nvSpPr>
              <p:cNvPr id="12" name="TextBox 11">
                <a:extLst>
                  <a:ext uri="{FF2B5EF4-FFF2-40B4-BE49-F238E27FC236}">
                    <a16:creationId xmlns:a16="http://schemas.microsoft.com/office/drawing/2014/main" id="{72897136-9106-AB22-4D36-38D755AF6B8C}"/>
                  </a:ext>
                </a:extLst>
              </p:cNvPr>
              <p:cNvSpPr txBox="1">
                <a:spLocks noRot="1" noChangeAspect="1" noMove="1" noResize="1" noEditPoints="1" noAdjustHandles="1" noChangeArrowheads="1" noChangeShapeType="1" noTextEdit="1"/>
              </p:cNvSpPr>
              <p:nvPr/>
            </p:nvSpPr>
            <p:spPr>
              <a:xfrm>
                <a:off x="568959" y="2056770"/>
                <a:ext cx="2032002" cy="243015"/>
              </a:xfrm>
              <a:prstGeom prst="rect">
                <a:avLst/>
              </a:prstGeom>
              <a:blipFill>
                <a:blip r:embed="rId3"/>
                <a:stretch>
                  <a:fillRect l="-2994" t="-30000" b="-4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9697C97-F76C-43B1-1C26-6D7056655B7C}"/>
                  </a:ext>
                </a:extLst>
              </p:cNvPr>
              <p:cNvSpPr txBox="1"/>
              <p:nvPr/>
            </p:nvSpPr>
            <p:spPr>
              <a:xfrm>
                <a:off x="4572000" y="2056770"/>
                <a:ext cx="2032002" cy="26161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𝑋</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1</m:t>
                          </m:r>
                        </m:e>
                      </m:d>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b="0" i="1" smtClean="0">
                              <a:latin typeface="Cambria Math" panose="02040503050406030204" pitchFamily="18" charset="0"/>
                            </a:rPr>
                            <m:t>𝑋𝑝</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e>
                      </m:acc>
                      <m:acc>
                        <m:accPr>
                          <m:chr m:val="⃗"/>
                          <m:ctrlPr>
                            <a:rPr lang="en-US" i="1">
                              <a:latin typeface="Cambria Math" panose="02040503050406030204" pitchFamily="18" charset="0"/>
                            </a:rPr>
                          </m:ctrlPr>
                        </m:accPr>
                        <m:e>
                          <m:r>
                            <a:rPr lang="en-US" b="0" i="1" smtClean="0">
                              <a:latin typeface="Cambria Math" panose="02040503050406030204" pitchFamily="18" charset="0"/>
                            </a:rPr>
                            <m:t>𝐴</m:t>
                          </m:r>
                        </m:e>
                      </m:acc>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𝐷</m:t>
                          </m:r>
                        </m:e>
                      </m:acc>
                    </m:oMath>
                  </m:oMathPara>
                </a14:m>
                <a:endParaRPr lang="en-US" dirty="0"/>
              </a:p>
            </p:txBody>
          </p:sp>
        </mc:Choice>
        <mc:Fallback xmlns="">
          <p:sp>
            <p:nvSpPr>
              <p:cNvPr id="16" name="TextBox 15">
                <a:extLst>
                  <a:ext uri="{FF2B5EF4-FFF2-40B4-BE49-F238E27FC236}">
                    <a16:creationId xmlns:a16="http://schemas.microsoft.com/office/drawing/2014/main" id="{09697C97-F76C-43B1-1C26-6D7056655B7C}"/>
                  </a:ext>
                </a:extLst>
              </p:cNvPr>
              <p:cNvSpPr txBox="1">
                <a:spLocks noRot="1" noChangeAspect="1" noMove="1" noResize="1" noEditPoints="1" noAdjustHandles="1" noChangeArrowheads="1" noChangeShapeType="1" noTextEdit="1"/>
              </p:cNvSpPr>
              <p:nvPr/>
            </p:nvSpPr>
            <p:spPr>
              <a:xfrm>
                <a:off x="4572000" y="2056770"/>
                <a:ext cx="2032002" cy="261610"/>
              </a:xfrm>
              <a:prstGeom prst="rect">
                <a:avLst/>
              </a:prstGeom>
              <a:blipFill>
                <a:blip r:embed="rId4"/>
                <a:stretch>
                  <a:fillRect t="-23256" b="-25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D243E60D-E681-D03F-2440-90CB766474D5}"/>
                  </a:ext>
                </a:extLst>
              </p:cNvPr>
              <p:cNvSpPr txBox="1"/>
              <p:nvPr/>
            </p:nvSpPr>
            <p:spPr>
              <a:xfrm>
                <a:off x="330200" y="3004416"/>
                <a:ext cx="6537959" cy="576953"/>
              </a:xfrm>
              <a:prstGeom prst="rect">
                <a:avLst/>
              </a:prstGeom>
              <a:noFill/>
            </p:spPr>
            <p:txBody>
              <a:bodyPr wrap="square">
                <a:spAutoFit/>
              </a:bodyPr>
              <a:lstStyle/>
              <a:p>
                <a:r>
                  <a:rPr lang="en-US" b="0" i="0" dirty="0">
                    <a:solidFill>
                      <a:srgbClr val="1F1F1F"/>
                    </a:solidFill>
                    <a:effectLst/>
                    <a:latin typeface="ElsevierGulliver"/>
                  </a:rPr>
                  <a:t>where </a:t>
                </a:r>
                <a:r>
                  <a:rPr lang="en-US" b="0" i="1" dirty="0">
                    <a:solidFill>
                      <a:srgbClr val="1F1F1F"/>
                    </a:solidFill>
                    <a:effectLst/>
                    <a:latin typeface="ElsevierGulliver"/>
                  </a:rPr>
                  <a:t>t</a:t>
                </a:r>
                <a:r>
                  <a:rPr lang="en-US" b="0" i="0" dirty="0">
                    <a:solidFill>
                      <a:srgbClr val="1F1F1F"/>
                    </a:solidFill>
                    <a:effectLst/>
                    <a:latin typeface="ElsevierGulliver"/>
                  </a:rPr>
                  <a:t> indicates the current iteration,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𝐴</m:t>
                        </m:r>
                      </m:e>
                    </m:acc>
                  </m:oMath>
                </a14:m>
                <a:r>
                  <a:rPr lang="en-US" b="0" i="0" dirty="0">
                    <a:solidFill>
                      <a:srgbClr val="1F1F1F"/>
                    </a:solidFill>
                    <a:effectLst/>
                    <a:latin typeface="ElsevierGulliver"/>
                  </a:rPr>
                  <a:t> and </a:t>
                </a:r>
                <a14:m>
                  <m:oMath xmlns:m="http://schemas.openxmlformats.org/officeDocument/2006/math">
                    <m:acc>
                      <m:accPr>
                        <m:chr m:val="⃗"/>
                        <m:ctrlPr>
                          <a:rPr lang="en-US" i="1">
                            <a:latin typeface="Cambria Math" panose="02040503050406030204" pitchFamily="18" charset="0"/>
                          </a:rPr>
                        </m:ctrlPr>
                      </m:accPr>
                      <m:e>
                        <m:r>
                          <a:rPr lang="en-US" b="0" i="1" smtClean="0">
                            <a:latin typeface="Cambria Math" panose="02040503050406030204" pitchFamily="18" charset="0"/>
                          </a:rPr>
                          <m:t>𝐶</m:t>
                        </m:r>
                      </m:e>
                    </m:acc>
                  </m:oMath>
                </a14:m>
                <a:r>
                  <a:rPr lang="en-US" b="0" i="0" dirty="0">
                    <a:solidFill>
                      <a:srgbClr val="1F1F1F"/>
                    </a:solidFill>
                    <a:effectLst/>
                    <a:latin typeface="ElsevierGulliver"/>
                  </a:rPr>
                  <a:t> are coefficient vectors, →𝑋𝑝 is the position vector of the prey, and </a:t>
                </a:r>
                <a14:m>
                  <m:oMath xmlns:m="http://schemas.openxmlformats.org/officeDocument/2006/math">
                    <m:acc>
                      <m:accPr>
                        <m:chr m:val="⃗"/>
                        <m:ctrlPr>
                          <a:rPr lang="en-US" i="1">
                            <a:latin typeface="Cambria Math" panose="02040503050406030204" pitchFamily="18" charset="0"/>
                          </a:rPr>
                        </m:ctrlPr>
                      </m:accPr>
                      <m:e>
                        <m:r>
                          <a:rPr lang="en-US" b="0" i="1" smtClean="0">
                            <a:latin typeface="Cambria Math" panose="02040503050406030204" pitchFamily="18" charset="0"/>
                          </a:rPr>
                          <m:t>𝑋</m:t>
                        </m:r>
                      </m:e>
                    </m:acc>
                  </m:oMath>
                </a14:m>
                <a:r>
                  <a:rPr lang="en-US" b="0" i="0" dirty="0">
                    <a:solidFill>
                      <a:srgbClr val="1F1F1F"/>
                    </a:solidFill>
                    <a:effectLst/>
                    <a:latin typeface="ElsevierGulliver"/>
                  </a:rPr>
                  <a:t> indicates the position vector of a grey wolf.</a:t>
                </a:r>
                <a:endParaRPr lang="en-US" dirty="0"/>
              </a:p>
            </p:txBody>
          </p:sp>
        </mc:Choice>
        <mc:Fallback xmlns="">
          <p:sp>
            <p:nvSpPr>
              <p:cNvPr id="18" name="TextBox 17">
                <a:extLst>
                  <a:ext uri="{FF2B5EF4-FFF2-40B4-BE49-F238E27FC236}">
                    <a16:creationId xmlns:a16="http://schemas.microsoft.com/office/drawing/2014/main" id="{D243E60D-E681-D03F-2440-90CB766474D5}"/>
                  </a:ext>
                </a:extLst>
              </p:cNvPr>
              <p:cNvSpPr txBox="1">
                <a:spLocks noRot="1" noChangeAspect="1" noMove="1" noResize="1" noEditPoints="1" noAdjustHandles="1" noChangeArrowheads="1" noChangeShapeType="1" noTextEdit="1"/>
              </p:cNvSpPr>
              <p:nvPr/>
            </p:nvSpPr>
            <p:spPr>
              <a:xfrm>
                <a:off x="330200" y="3004416"/>
                <a:ext cx="6537959" cy="576953"/>
              </a:xfrm>
              <a:prstGeom prst="rect">
                <a:avLst/>
              </a:prstGeom>
              <a:blipFill>
                <a:blip r:embed="rId5"/>
                <a:stretch>
                  <a:fillRect l="-280" t="-6383" b="-10638"/>
                </a:stretch>
              </a:blipFill>
            </p:spPr>
            <p:txBody>
              <a:bodyPr/>
              <a:lstStyle/>
              <a:p>
                <a:r>
                  <a:rPr lang="en-US">
                    <a:noFill/>
                  </a:rPr>
                  <a:t> </a:t>
                </a:r>
              </a:p>
            </p:txBody>
          </p:sp>
        </mc:Fallback>
      </mc:AlternateContent>
    </p:spTree>
    <p:extLst>
      <p:ext uri="{BB962C8B-B14F-4D97-AF65-F5344CB8AC3E}">
        <p14:creationId xmlns:p14="http://schemas.microsoft.com/office/powerpoint/2010/main" val="2237154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83877B4A-BCE7-1E74-CBD8-73E6B155A2E7}"/>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A85CFF50-1AEC-D7D2-4E32-F711667B52F1}"/>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DD981E59-8ACF-4164-7761-4E55D591A527}"/>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92A22250-D9C8-A68F-0819-8BB4F1087035}"/>
              </a:ext>
            </a:extLst>
          </p:cNvPr>
          <p:cNvSpPr txBox="1"/>
          <p:nvPr/>
        </p:nvSpPr>
        <p:spPr>
          <a:xfrm>
            <a:off x="1472386" y="320609"/>
            <a:ext cx="4091093"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Hunting</a:t>
            </a:r>
          </a:p>
        </p:txBody>
      </p:sp>
      <p:pic>
        <p:nvPicPr>
          <p:cNvPr id="20" name="Picture 19">
            <a:extLst>
              <a:ext uri="{FF2B5EF4-FFF2-40B4-BE49-F238E27FC236}">
                <a16:creationId xmlns:a16="http://schemas.microsoft.com/office/drawing/2014/main" id="{A72B65F5-DE72-12DC-944C-119F98B0A330}"/>
              </a:ext>
            </a:extLst>
          </p:cNvPr>
          <p:cNvPicPr>
            <a:picLocks noChangeAspect="1"/>
          </p:cNvPicPr>
          <p:nvPr/>
        </p:nvPicPr>
        <p:blipFill>
          <a:blip r:embed="rId3"/>
          <a:stretch>
            <a:fillRect/>
          </a:stretch>
        </p:blipFill>
        <p:spPr>
          <a:xfrm>
            <a:off x="6016266" y="2172049"/>
            <a:ext cx="2578027" cy="1596933"/>
          </a:xfrm>
          <a:prstGeom prst="rect">
            <a:avLst/>
          </a:prstGeom>
        </p:spPr>
      </p:pic>
      <p:sp>
        <p:nvSpPr>
          <p:cNvPr id="22" name="TextBox 21">
            <a:extLst>
              <a:ext uri="{FF2B5EF4-FFF2-40B4-BE49-F238E27FC236}">
                <a16:creationId xmlns:a16="http://schemas.microsoft.com/office/drawing/2014/main" id="{5BA1EF42-5F9A-1306-3E05-327E6B88AA23}"/>
              </a:ext>
            </a:extLst>
          </p:cNvPr>
          <p:cNvSpPr txBox="1"/>
          <p:nvPr/>
        </p:nvSpPr>
        <p:spPr>
          <a:xfrm>
            <a:off x="5864027" y="3884496"/>
            <a:ext cx="2355427" cy="307777"/>
          </a:xfrm>
          <a:prstGeom prst="rect">
            <a:avLst/>
          </a:prstGeom>
          <a:noFill/>
        </p:spPr>
        <p:txBody>
          <a:bodyPr wrap="square">
            <a:spAutoFit/>
          </a:bodyPr>
          <a:lstStyle/>
          <a:p>
            <a:r>
              <a:rPr lang="en-US" b="0" i="0" dirty="0">
                <a:solidFill>
                  <a:srgbClr val="1F1F1F"/>
                </a:solidFill>
                <a:effectLst/>
                <a:latin typeface="ElsevierGulliver"/>
              </a:rPr>
              <a:t> Position updading in GWO.</a:t>
            </a: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3AF6C2F-C491-8DDF-D9E2-E64B6BB9FAB9}"/>
                  </a:ext>
                </a:extLst>
              </p:cNvPr>
              <p:cNvSpPr txBox="1"/>
              <p:nvPr/>
            </p:nvSpPr>
            <p:spPr>
              <a:xfrm>
                <a:off x="286173" y="1137243"/>
                <a:ext cx="6737774" cy="1107996"/>
              </a:xfrm>
              <a:prstGeom prst="rect">
                <a:avLst/>
              </a:prstGeom>
              <a:noFill/>
            </p:spPr>
            <p:txBody>
              <a:bodyPr wrap="square">
                <a:spAutoFit/>
              </a:bodyPr>
              <a:lstStyle/>
              <a:p>
                <a:r>
                  <a:rPr lang="en-US" sz="1100" b="1" dirty="0"/>
                  <a:t>Summary:</a:t>
                </a:r>
                <a:br>
                  <a:rPr lang="en-US" sz="1100" dirty="0"/>
                </a:br>
                <a:r>
                  <a:rPr lang="en-US" sz="1100" dirty="0"/>
                  <a:t>To mathematically simulate the hunting behavior of grey wolves, the algorithm assumes that the three best solutions found so far—Alpha (</a:t>
                </a:r>
                <a14:m>
                  <m:oMath xmlns:m="http://schemas.openxmlformats.org/officeDocument/2006/math">
                    <m:r>
                      <a:rPr lang="en-US" sz="1100" i="1">
                        <a:latin typeface="Cambria Math" panose="02040503050406030204" pitchFamily="18" charset="0"/>
                      </a:rPr>
                      <m:t>𝛼</m:t>
                    </m:r>
                  </m:oMath>
                </a14:m>
                <a:r>
                  <a:rPr lang="en-US" sz="1100" dirty="0"/>
                  <a:t>), Beta (</a:t>
                </a:r>
                <a14:m>
                  <m:oMath xmlns:m="http://schemas.openxmlformats.org/officeDocument/2006/math">
                    <m:r>
                      <a:rPr lang="en-US" sz="1100" i="1">
                        <a:latin typeface="Cambria Math" panose="02040503050406030204" pitchFamily="18" charset="0"/>
                      </a:rPr>
                      <m:t>𝛽</m:t>
                    </m:r>
                  </m:oMath>
                </a14:m>
                <a:r>
                  <a:rPr lang="en-US" sz="1100" dirty="0"/>
                  <a:t>), and Delta (</a:t>
                </a:r>
                <a14:m>
                  <m:oMath xmlns:m="http://schemas.openxmlformats.org/officeDocument/2006/math">
                    <m:r>
                      <a:rPr lang="en-US" sz="1100" i="1">
                        <a:latin typeface="Cambria Math" panose="02040503050406030204" pitchFamily="18" charset="0"/>
                      </a:rPr>
                      <m:t>𝛿</m:t>
                    </m:r>
                  </m:oMath>
                </a14:m>
                <a:r>
                  <a:rPr lang="en-US" sz="1100" dirty="0"/>
                  <a:t>)—have the best knowledge of the prey's (optimum's) potential location in an unknown search space. Therefore, these top three solutions are saved, and all other search agents (including Omegas) are required to update their positions based on the locations of these three leaders.</a:t>
                </a:r>
              </a:p>
            </p:txBody>
          </p:sp>
        </mc:Choice>
        <mc:Fallback xmlns="">
          <p:sp>
            <p:nvSpPr>
              <p:cNvPr id="24" name="TextBox 23">
                <a:extLst>
                  <a:ext uri="{FF2B5EF4-FFF2-40B4-BE49-F238E27FC236}">
                    <a16:creationId xmlns:a16="http://schemas.microsoft.com/office/drawing/2014/main" id="{73AF6C2F-C491-8DDF-D9E2-E64B6BB9FAB9}"/>
                  </a:ext>
                </a:extLst>
              </p:cNvPr>
              <p:cNvSpPr txBox="1">
                <a:spLocks noRot="1" noChangeAspect="1" noMove="1" noResize="1" noEditPoints="1" noAdjustHandles="1" noChangeArrowheads="1" noChangeShapeType="1" noTextEdit="1"/>
              </p:cNvSpPr>
              <p:nvPr/>
            </p:nvSpPr>
            <p:spPr>
              <a:xfrm>
                <a:off x="286173" y="1137243"/>
                <a:ext cx="6737774" cy="1107996"/>
              </a:xfrm>
              <a:prstGeom prst="rect">
                <a:avLst/>
              </a:prstGeom>
              <a:blipFill>
                <a:blip r:embed="rId4"/>
                <a:stretch>
                  <a:fillRect t="-552" r="-181" b="-3315"/>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BE3E31F8-731E-7EB0-9B4E-3C244A7F922C}"/>
              </a:ext>
            </a:extLst>
          </p:cNvPr>
          <p:cNvSpPr txBox="1"/>
          <p:nvPr/>
        </p:nvSpPr>
        <p:spPr>
          <a:xfrm>
            <a:off x="286173" y="2436597"/>
            <a:ext cx="5628643" cy="1569660"/>
          </a:xfrm>
          <a:prstGeom prst="rect">
            <a:avLst/>
          </a:prstGeom>
          <a:noFill/>
        </p:spPr>
        <p:txBody>
          <a:bodyPr wrap="square">
            <a:spAutoFit/>
          </a:bodyPr>
          <a:lstStyle/>
          <a:p>
            <a:r>
              <a:rPr lang="en-US" sz="1200" b="1" dirty="0"/>
              <a:t>The Problem: </a:t>
            </a:r>
            <a:r>
              <a:rPr lang="en-US" sz="1200" dirty="0"/>
              <a:t>In an abstract search space, the exact location of the optimum (prey) is unknown.</a:t>
            </a:r>
          </a:p>
          <a:p>
            <a:endParaRPr lang="en-US" sz="1200" dirty="0"/>
          </a:p>
          <a:p>
            <a:r>
              <a:rPr lang="en-US" sz="1200" b="1" dirty="0"/>
              <a:t>The Assumption</a:t>
            </a:r>
            <a:r>
              <a:rPr lang="en-US" sz="1200" dirty="0"/>
              <a:t>: The top three solutions (αα, ββ, </a:t>
            </a:r>
            <a:r>
              <a:rPr lang="en-US" sz="1200" dirty="0" err="1"/>
              <a:t>δδ</a:t>
            </a:r>
            <a:r>
              <a:rPr lang="en-US" sz="1200" dirty="0"/>
              <a:t>) are assumed to have the best estimates of the prey's location.</a:t>
            </a:r>
          </a:p>
          <a:p>
            <a:endParaRPr lang="en-US" sz="1200" dirty="0"/>
          </a:p>
          <a:p>
            <a:r>
              <a:rPr lang="en-US" sz="1200" b="1" dirty="0"/>
              <a:t>The Mechanism: </a:t>
            </a:r>
            <a:r>
              <a:rPr lang="en-US" sz="1200" dirty="0"/>
              <a:t>The algorithm saves these top three solutions and forces all other wolves (</a:t>
            </a:r>
            <a:r>
              <a:rPr lang="en-US" sz="1200" dirty="0" err="1"/>
              <a:t>ωω</a:t>
            </a:r>
            <a:r>
              <a:rPr lang="en-US" sz="1200" dirty="0"/>
              <a:t>) to update their positions according to these leaders.</a:t>
            </a:r>
          </a:p>
        </p:txBody>
      </p:sp>
    </p:spTree>
    <p:extLst>
      <p:ext uri="{BB962C8B-B14F-4D97-AF65-F5344CB8AC3E}">
        <p14:creationId xmlns:p14="http://schemas.microsoft.com/office/powerpoint/2010/main" val="39816408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F49111F9-5EDA-37CE-C79D-ADCF2C34749E}"/>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6C0B55D8-E088-EB90-6199-CF33FE4DE3A5}"/>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292088FA-6114-B907-DAE0-063122640799}"/>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B9630418-F0C7-D249-FE6C-539725AB1BFC}"/>
              </a:ext>
            </a:extLst>
          </p:cNvPr>
          <p:cNvSpPr txBox="1"/>
          <p:nvPr/>
        </p:nvSpPr>
        <p:spPr>
          <a:xfrm>
            <a:off x="1415627" y="320609"/>
            <a:ext cx="4091093"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Encircling Prey</a:t>
            </a:r>
          </a:p>
        </p:txBody>
      </p:sp>
      <p:pic>
        <p:nvPicPr>
          <p:cNvPr id="8" name="Picture 7">
            <a:extLst>
              <a:ext uri="{FF2B5EF4-FFF2-40B4-BE49-F238E27FC236}">
                <a16:creationId xmlns:a16="http://schemas.microsoft.com/office/drawing/2014/main" id="{61CD2E93-E005-6F23-FE2D-A0C5E3F743FB}"/>
              </a:ext>
            </a:extLst>
          </p:cNvPr>
          <p:cNvPicPr>
            <a:picLocks noChangeAspect="1"/>
          </p:cNvPicPr>
          <p:nvPr/>
        </p:nvPicPr>
        <p:blipFill>
          <a:blip r:embed="rId3"/>
          <a:stretch>
            <a:fillRect/>
          </a:stretch>
        </p:blipFill>
        <p:spPr>
          <a:xfrm>
            <a:off x="1173075" y="1223115"/>
            <a:ext cx="6797849" cy="2697269"/>
          </a:xfrm>
          <a:prstGeom prst="rect">
            <a:avLst/>
          </a:prstGeom>
        </p:spPr>
      </p:pic>
      <p:sp>
        <p:nvSpPr>
          <p:cNvPr id="10" name="TextBox 9">
            <a:extLst>
              <a:ext uri="{FF2B5EF4-FFF2-40B4-BE49-F238E27FC236}">
                <a16:creationId xmlns:a16="http://schemas.microsoft.com/office/drawing/2014/main" id="{EBA058B5-0982-D7AD-2FCF-DDE2174D637A}"/>
              </a:ext>
            </a:extLst>
          </p:cNvPr>
          <p:cNvSpPr txBox="1"/>
          <p:nvPr/>
        </p:nvSpPr>
        <p:spPr>
          <a:xfrm>
            <a:off x="2331719" y="4027070"/>
            <a:ext cx="4798906" cy="307777"/>
          </a:xfrm>
          <a:prstGeom prst="rect">
            <a:avLst/>
          </a:prstGeom>
          <a:noFill/>
        </p:spPr>
        <p:txBody>
          <a:bodyPr wrap="square">
            <a:spAutoFit/>
          </a:bodyPr>
          <a:lstStyle/>
          <a:p>
            <a:r>
              <a:rPr lang="en-US" b="0" i="0" dirty="0">
                <a:solidFill>
                  <a:srgbClr val="1F1F1F"/>
                </a:solidFill>
                <a:effectLst/>
                <a:latin typeface="ElsevierGulliver"/>
              </a:rPr>
              <a:t>2D and 3D position vectors and their possible next locations.</a:t>
            </a:r>
            <a:endParaRPr lang="en-US" dirty="0"/>
          </a:p>
        </p:txBody>
      </p:sp>
    </p:spTree>
    <p:extLst>
      <p:ext uri="{BB962C8B-B14F-4D97-AF65-F5344CB8AC3E}">
        <p14:creationId xmlns:p14="http://schemas.microsoft.com/office/powerpoint/2010/main" val="1665480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E0716B3D-24B8-7B5C-DA3A-F80F2EDE9939}"/>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B372AEAB-15E8-90B9-0628-2D2EAE7D25A9}"/>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ECA808FD-6B7E-DA23-D96A-EF598D50DB45}"/>
              </a:ext>
            </a:extLst>
          </p:cNvPr>
          <p:cNvSpPr txBox="1"/>
          <p:nvPr/>
        </p:nvSpPr>
        <p:spPr>
          <a:xfrm>
            <a:off x="1560441" y="375462"/>
            <a:ext cx="6669159"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r>
              <a:rPr lang="fa-IR" sz="2800" b="1" dirty="0">
                <a:solidFill>
                  <a:schemeClr val="bg1"/>
                </a:solidFill>
                <a:latin typeface="Estedad"/>
                <a:cs typeface="B Nazanin" panose="00000400000000000000" pitchFamily="2" charset="-78"/>
              </a:rPr>
              <a:t>الگوریتم ژنتیک             </a:t>
            </a:r>
            <a:endParaRPr lang="en-US" sz="3600" b="1" dirty="0">
              <a:solidFill>
                <a:schemeClr val="bg1"/>
              </a:solidFill>
              <a:effectLst/>
              <a:latin typeface="Estedad"/>
            </a:endParaRPr>
          </a:p>
        </p:txBody>
      </p:sp>
      <p:sp>
        <p:nvSpPr>
          <p:cNvPr id="3" name="TextBox 2">
            <a:extLst>
              <a:ext uri="{FF2B5EF4-FFF2-40B4-BE49-F238E27FC236}">
                <a16:creationId xmlns:a16="http://schemas.microsoft.com/office/drawing/2014/main" id="{673BD148-B47B-27F3-E2EE-68045A43748E}"/>
              </a:ext>
            </a:extLst>
          </p:cNvPr>
          <p:cNvSpPr txBox="1"/>
          <p:nvPr/>
        </p:nvSpPr>
        <p:spPr>
          <a:xfrm>
            <a:off x="406400" y="1153026"/>
            <a:ext cx="8615680" cy="3341941"/>
          </a:xfrm>
          <a:prstGeom prst="rect">
            <a:avLst/>
          </a:prstGeom>
          <a:noFill/>
        </p:spPr>
        <p:txBody>
          <a:bodyPr wrap="square">
            <a:spAutoFit/>
          </a:bodyPr>
          <a:lstStyle/>
          <a:p>
            <a:pPr algn="l">
              <a:spcBef>
                <a:spcPts val="1200"/>
              </a:spcBef>
              <a:spcAft>
                <a:spcPts val="1200"/>
              </a:spcAft>
              <a:buFont typeface="Arial" panose="020B0604020202020204" pitchFamily="34" charset="0"/>
              <a:buChar char="•"/>
            </a:pPr>
            <a:r>
              <a:rPr lang="en-US" b="0" i="0" dirty="0">
                <a:solidFill>
                  <a:srgbClr val="0F1115"/>
                </a:solidFill>
                <a:effectLst/>
                <a:latin typeface="Estedad"/>
              </a:rPr>
              <a:t>Population-based evolutionary algorithm.</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Chromosome = candidate solution.</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Fitness = solution quality.</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Operators: selection, crossover, mutation.</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Loop: init → evaluate → select → crossover → mutate → replace.</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Pros: derivative-free, black-box, global search.</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Cons: tuning, premature convergence, no global guarantee.</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Uses: optimization, scheduling, ML, robotics.</a:t>
            </a:r>
          </a:p>
        </p:txBody>
      </p:sp>
      <p:pic>
        <p:nvPicPr>
          <p:cNvPr id="5" name="Picture 4">
            <a:extLst>
              <a:ext uri="{FF2B5EF4-FFF2-40B4-BE49-F238E27FC236}">
                <a16:creationId xmlns:a16="http://schemas.microsoft.com/office/drawing/2014/main" id="{1CF174DC-B1F1-B2FE-5D31-B96933E37712}"/>
              </a:ext>
            </a:extLst>
          </p:cNvPr>
          <p:cNvPicPr>
            <a:picLocks noChangeAspect="1"/>
          </p:cNvPicPr>
          <p:nvPr/>
        </p:nvPicPr>
        <p:blipFill>
          <a:blip r:embed="rId3"/>
          <a:stretch>
            <a:fillRect/>
          </a:stretch>
        </p:blipFill>
        <p:spPr>
          <a:xfrm>
            <a:off x="5407864" y="1590092"/>
            <a:ext cx="3498539" cy="196331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1884440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3BBA52ED-EB38-2BDB-2C6B-C614F6287C05}"/>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E8BCD65A-AAD7-BADC-47F5-79C59C49096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3" name="TextBox 2">
            <a:extLst>
              <a:ext uri="{FF2B5EF4-FFF2-40B4-BE49-F238E27FC236}">
                <a16:creationId xmlns:a16="http://schemas.microsoft.com/office/drawing/2014/main" id="{A3E324E6-3B00-61B0-EA47-15E1B9E2CCAF}"/>
              </a:ext>
            </a:extLst>
          </p:cNvPr>
          <p:cNvSpPr txBox="1"/>
          <p:nvPr/>
        </p:nvSpPr>
        <p:spPr>
          <a:xfrm>
            <a:off x="3548841" y="2310140"/>
            <a:ext cx="2046317" cy="523220"/>
          </a:xfrm>
          <a:prstGeom prst="rect">
            <a:avLst/>
          </a:prstGeom>
          <a:noFill/>
        </p:spPr>
        <p:txBody>
          <a:bodyPr wrap="square">
            <a:spAutoFit/>
          </a:bodyPr>
          <a:lstStyle/>
          <a:p>
            <a:pPr algn="l">
              <a:spcBef>
                <a:spcPts val="1200"/>
              </a:spcBef>
              <a:spcAft>
                <a:spcPts val="1200"/>
              </a:spcAft>
            </a:pPr>
            <a:r>
              <a:rPr lang="en-US" sz="2800" dirty="0"/>
              <a:t>Tankyou</a:t>
            </a:r>
          </a:p>
        </p:txBody>
      </p:sp>
    </p:spTree>
    <p:extLst>
      <p:ext uri="{BB962C8B-B14F-4D97-AF65-F5344CB8AC3E}">
        <p14:creationId xmlns:p14="http://schemas.microsoft.com/office/powerpoint/2010/main" val="935737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قالب پاورپوینت ماشین لرنینگ">
  <a:themeElements>
    <a:clrScheme name="Simple Light">
      <a:dk1>
        <a:srgbClr val="000000"/>
      </a:dk1>
      <a:lt1>
        <a:srgbClr val="FFFFFF"/>
      </a:lt1>
      <a:dk2>
        <a:srgbClr val="666666"/>
      </a:dk2>
      <a:lt2>
        <a:srgbClr val="D9D9D9"/>
      </a:lt2>
      <a:accent1>
        <a:srgbClr val="E4EA27"/>
      </a:accent1>
      <a:accent2>
        <a:srgbClr val="26EAB8"/>
      </a:accent2>
      <a:accent3>
        <a:srgbClr val="2776EA"/>
      </a:accent3>
      <a:accent4>
        <a:srgbClr val="E99B27"/>
      </a:accent4>
      <a:accent5>
        <a:srgbClr val="EA4827"/>
      </a:accent5>
      <a:accent6>
        <a:srgbClr val="8027EA"/>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4308</TotalTime>
  <Words>1609</Words>
  <Application>Microsoft Office PowerPoint</Application>
  <PresentationFormat>On-screen Show (16:9)</PresentationFormat>
  <Paragraphs>143</Paragraphs>
  <Slides>18</Slides>
  <Notes>18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18</vt:i4>
      </vt:variant>
    </vt:vector>
  </HeadingPairs>
  <TitlesOfParts>
    <vt:vector size="31" baseType="lpstr">
      <vt:lpstr>B Nazanin</vt:lpstr>
      <vt:lpstr>Cambria Math</vt:lpstr>
      <vt:lpstr>Roboto</vt:lpstr>
      <vt:lpstr>Estedad</vt:lpstr>
      <vt:lpstr>IranNastaliq</vt:lpstr>
      <vt:lpstr>Wingdings</vt:lpstr>
      <vt:lpstr>Arial</vt:lpstr>
      <vt:lpstr>Fira Sans Extra Condensed</vt:lpstr>
      <vt:lpstr>Shabnam</vt:lpstr>
      <vt:lpstr>ElsevierGulliver</vt:lpstr>
      <vt:lpstr>B Titr</vt:lpstr>
      <vt:lpstr>Arial Black</vt:lpstr>
      <vt:lpstr>قالب پاورپوینت ماشین لرنینگ</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پاورپوینت اینفوگرافیک یادگیری ماشین</dc:title>
  <dc:creator>Mohammad</dc:creator>
  <cp:lastModifiedBy>Manouchehr Abdi</cp:lastModifiedBy>
  <cp:revision>90</cp:revision>
  <cp:lastPrinted>2026-05-17T11:28:46Z</cp:lastPrinted>
  <dcterms:modified xsi:type="dcterms:W3CDTF">2026-10-19T09:42:11Z</dcterms:modified>
</cp:coreProperties>
</file>