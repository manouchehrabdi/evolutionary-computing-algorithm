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441" r:id="rId2"/>
    <p:sldId id="478" r:id="rId3"/>
    <p:sldId id="471" r:id="rId4"/>
    <p:sldId id="473" r:id="rId5"/>
    <p:sldId id="472" r:id="rId6"/>
    <p:sldId id="474" r:id="rId7"/>
    <p:sldId id="475" r:id="rId8"/>
    <p:sldId id="476" r:id="rId9"/>
    <p:sldId id="477" r:id="rId10"/>
    <p:sldId id="479" r:id="rId11"/>
    <p:sldId id="480" r:id="rId12"/>
    <p:sldId id="481" r:id="rId13"/>
    <p:sldId id="482" r:id="rId14"/>
    <p:sldId id="483" r:id="rId15"/>
    <p:sldId id="484" r:id="rId16"/>
    <p:sldId id="485" r:id="rId17"/>
    <p:sldId id="486" r:id="rId18"/>
    <p:sldId id="487" r:id="rId19"/>
    <p:sldId id="488" r:id="rId20"/>
    <p:sldId id="489" r:id="rId21"/>
    <p:sldId id="490" r:id="rId22"/>
  </p:sldIdLst>
  <p:sldSz cx="9144000" cy="5143500" type="screen16x9"/>
  <p:notesSz cx="6797675" cy="9929813"/>
  <p:embeddedFontLst>
    <p:embeddedFont>
      <p:font typeface="Arial Black" panose="020B0A04020102020204" pitchFamily="34" charset="0"/>
      <p:bold r:id="rId25"/>
    </p:embeddedFont>
    <p:embeddedFont>
      <p:font typeface="B Nazanin" panose="00000400000000000000" pitchFamily="2" charset="-78"/>
      <p:regular r:id="rId26"/>
      <p:bold r:id="rId27"/>
    </p:embeddedFont>
    <p:embeddedFont>
      <p:font typeface="B Titr" panose="00000700000000000000" pitchFamily="2" charset="-78"/>
      <p:bold r:id="rId28"/>
    </p:embeddedFont>
    <p:embeddedFont>
      <p:font typeface="Cambria Math" panose="02040503050406030204" pitchFamily="18" charset="0"/>
      <p:regular r:id="rId29"/>
    </p:embeddedFont>
    <p:embeddedFont>
      <p:font typeface="Fira Sans Extra Condensed" panose="020B0503050000020004" pitchFamily="34" charset="0"/>
      <p:regular r:id="rId30"/>
      <p:bold r:id="rId31"/>
    </p:embeddedFont>
    <p:embeddedFont>
      <p:font typeface="IranNastaliq" panose="02000503000000020003" pitchFamily="2" charset="0"/>
      <p:regular r:id="rId32"/>
    </p:embeddedFont>
    <p:embeddedFont>
      <p:font typeface="Roboto" panose="02000000000000000000" pitchFamily="2" charset="0"/>
      <p:regular r:id="rId33"/>
      <p:bold r:id="rId34"/>
      <p:italic r:id="rId35"/>
      <p:boldItalic r:id="rId36"/>
    </p:embeddedFont>
    <p:embeddedFont>
      <p:font typeface="Shabnam" panose="020B0604020202020204" charset="-78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ouchehr Abdi" initials="MA" lastIdx="1" clrIdx="0">
    <p:extLst>
      <p:ext uri="{19B8F6BF-5375-455C-9EA6-DF929625EA0E}">
        <p15:presenceInfo xmlns:p15="http://schemas.microsoft.com/office/powerpoint/2012/main" userId="7f4efd097da66fe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83ED"/>
    <a:srgbClr val="1346B9"/>
    <a:srgbClr val="9EB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2A0FC3-6CE7-41D7-AAEC-77FEFD00A729}">
  <a:tblStyle styleId="{FF2A0FC3-6CE7-41D7-AAEC-77FEFD00A7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135" autoAdjust="0"/>
  </p:normalViewPr>
  <p:slideViewPr>
    <p:cSldViewPr snapToGrid="0">
      <p:cViewPr varScale="1">
        <p:scale>
          <a:sx n="137" d="100"/>
          <a:sy n="137" d="100"/>
        </p:scale>
        <p:origin x="84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3274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6FD584-6372-532A-2661-8ED41C63F3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2122E0-C77B-6B1E-C588-6E10FC63C3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3FA1D-8910-476F-A6DD-2869201C2ED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74B922-0DF7-7A15-7C38-F695C93DCB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01F9BB-E4CB-DB1B-C6A1-21810A256E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1DD29-3242-459F-8733-CEDBA1069C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3627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B Titr" panose="00000700000000000000" pitchFamily="2" charset="-78"/>
        <a:cs typeface="B Titr" panose="00000700000000000000" pitchFamily="2" charset="-78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CC680AC0-F518-5F8D-FEBE-1BAED613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6887FA03-D2FB-05D8-305D-B6C3130E3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D4440D48-6F80-B8C7-5FBF-2136AFBB8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9625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CC680AC0-F518-5F8D-FEBE-1BAED613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6887FA03-D2FB-05D8-305D-B6C3130E3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D4440D48-6F80-B8C7-5FBF-2136AFBB8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649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897DA4B5-F69C-A8ED-C09D-1813E3359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035C2006-3FD0-6CEA-237C-CCD2CD837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83A226F3-EAA8-5142-79D3-80C09BCE87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6180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E204A57A-CD20-A018-142C-B638E300E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D45F5E37-F87C-A177-3156-912F67B230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BBC083AC-6865-58CA-1E9E-AA7FA45D2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2424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63318F38-6A03-CD3C-8AAC-D96784D4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0C72A971-3366-9142-E433-1C0EE93CA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0BA83703-A4EB-D1E2-06E4-3360DB684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98045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63318F38-6A03-CD3C-8AAC-D96784D4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0C72A971-3366-9142-E433-1C0EE93CA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0BA83703-A4EB-D1E2-06E4-3360DB684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4700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63318F38-6A03-CD3C-8AAC-D96784D4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0C72A971-3366-9142-E433-1C0EE93CA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0BA83703-A4EB-D1E2-06E4-3360DB684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421298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63318F38-6A03-CD3C-8AAC-D96784D4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0C72A971-3366-9142-E433-1C0EE93CA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0BA83703-A4EB-D1E2-06E4-3360DB684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4940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63318F38-6A03-CD3C-8AAC-D96784D43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0C72A971-3366-9142-E433-1C0EE93CA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0BA83703-A4EB-D1E2-06E4-3360DB684F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7096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79E3A7A6-58F4-57B1-1933-3300AE7D2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AF5EDBF8-615C-5D4C-DA82-071428B17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F9579BF3-696B-D2BA-DA5F-906ED0431F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7095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3E0DF5F-0FBC-4360-9CCE-A8B82E70E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E24A6347-9D27-3A69-75D3-3974352B3A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757D6294-66D4-9BAD-E4D8-3DBBFD4B08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5263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3A3DBFEC-AAEB-FE50-29B3-773C3A479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F9D287D6-6589-9976-59FB-7C11A43C9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EA979998-19ED-9941-F2C4-C04A3CFCC1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5325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4D7C4BC3-E9BB-4E54-955F-4C22D521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D1AD896F-E96B-DDB8-DDB3-EB149F352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740BDCB8-DCA1-E324-463F-D57B11A038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7312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01CF4CC2-976D-81D2-C2A5-FC64E39BF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27FD7C6C-AD19-CAEB-DFA8-BBD4CBCD5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AC504CAB-E3A5-454D-9552-F160165600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1044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CBC93E67-25F9-5FB2-6135-AD65867E4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E3213C39-4C00-2C10-39E9-A63CD59415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E2048E39-55EF-8CCD-B21C-A5F9FB1DAA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041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B824D3F2-5AF5-8094-2359-4DBBF2D26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D50E112E-665B-ED0E-3F56-FD924EBAA3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E2861D10-4F75-4330-9736-04D0CDADD4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78192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2C63AA07-1068-339E-0290-DF495AAF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3CD9020A-E5E5-D74F-538E-1FE820D7D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42BF62BC-E3CA-0AC1-2F7A-8C29F5C398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20167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D97EAB35-203A-E3E9-FF98-ED1AD966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CFDFC685-1780-2672-EC34-8C1B141689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9A5EBEB4-B3DF-477C-3F99-263F5ACE79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35598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5B4BF191-B28E-DA98-4DA2-ED93C370B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E760867A-829A-2210-86AA-5037AA215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3866AE4C-1FF4-185E-A9DC-3154DC836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45041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8C96093C-713E-EB9F-2714-B5553B656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226428AD-786E-0A49-D738-4B8DE1E5A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8EDBBD78-0795-4EE4-F810-9CA58ACE7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52625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8392E53A-04DE-6189-C819-5F3FDF8A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dcb566e1d5_0_62:notes">
            <a:extLst>
              <a:ext uri="{FF2B5EF4-FFF2-40B4-BE49-F238E27FC236}">
                <a16:creationId xmlns:a16="http://schemas.microsoft.com/office/drawing/2014/main" id="{1F723371-881E-3C10-1F70-7BCA6E6F0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4" name="Google Shape;44;gdcb566e1d5_0_62:notes">
            <a:extLst>
              <a:ext uri="{FF2B5EF4-FFF2-40B4-BE49-F238E27FC236}">
                <a16:creationId xmlns:a16="http://schemas.microsoft.com/office/drawing/2014/main" id="{DEADFFE4-F44B-286E-CF7D-E0FA8EBEE2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9768" y="4716661"/>
            <a:ext cx="5438140" cy="44684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6229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4B893A-DD98-48F9-A657-6D369743C7AB}"/>
              </a:ext>
            </a:extLst>
          </p:cNvPr>
          <p:cNvSpPr/>
          <p:nvPr userDrawn="1"/>
        </p:nvSpPr>
        <p:spPr>
          <a:xfrm>
            <a:off x="60960" y="219927"/>
            <a:ext cx="9035627" cy="781056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48B478-F4DC-597C-BD43-F6A25B544E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66171" y="131209"/>
            <a:ext cx="630848" cy="118215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00FC4B-8781-673E-AC9B-0896CDDF4EA2}"/>
              </a:ext>
            </a:extLst>
          </p:cNvPr>
          <p:cNvSpPr/>
          <p:nvPr userDrawn="1"/>
        </p:nvSpPr>
        <p:spPr>
          <a:xfrm flipV="1">
            <a:off x="521552" y="4923573"/>
            <a:ext cx="7720660" cy="484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1AB5FD-E916-F0E9-D63F-97735542F9C8}"/>
              </a:ext>
            </a:extLst>
          </p:cNvPr>
          <p:cNvSpPr/>
          <p:nvPr userDrawn="1"/>
        </p:nvSpPr>
        <p:spPr>
          <a:xfrm>
            <a:off x="115910" y="4780105"/>
            <a:ext cx="405633" cy="31531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CCB9696-2349-4258-A3BF-F97C020D93B2}" type="slidenum">
              <a:rPr lang="en-US" sz="1000" b="1" smtClean="0">
                <a:solidFill>
                  <a:schemeClr val="accent2">
                    <a:lumMod val="40000"/>
                    <a:lumOff val="60000"/>
                  </a:schemeClr>
                </a:solidFill>
              </a:rPr>
              <a:t>‹#›</a:t>
            </a:fld>
            <a:endParaRPr lang="en-US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2AB9B-FDC7-703B-9BC1-2C0124A2A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960" y="219927"/>
            <a:ext cx="1390845" cy="7810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65FA95-2670-B44A-C3B0-25DF1568FD2B}"/>
              </a:ext>
            </a:extLst>
          </p:cNvPr>
          <p:cNvSpPr txBox="1"/>
          <p:nvPr userDrawn="1"/>
        </p:nvSpPr>
        <p:spPr>
          <a:xfrm>
            <a:off x="8184741" y="4855485"/>
            <a:ext cx="141002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 i="0" dirty="0">
                <a:solidFill>
                  <a:schemeClr val="tx1"/>
                </a:solidFill>
                <a:effectLst/>
                <a:latin typeface="Estedad"/>
              </a:rPr>
              <a:t>Evolutionary Algorithms</a:t>
            </a:r>
            <a:endParaRPr lang="en-US" sz="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cs typeface="B Titr" panose="00000700000000000000" pitchFamily="2" charset="-7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>
            <a:endParaRPr dirty="0"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457200" y="1247950"/>
            <a:ext cx="8229600" cy="30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Shabnam" panose="020B0603030804020204" pitchFamily="34" charset="-78"/>
                <a:cs typeface="Shabnam" panose="020B0603030804020204" pitchFamily="34" charset="-78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cs typeface="B Titr" panose="00000700000000000000" pitchFamily="2" charset="-7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Shabnam" panose="020B0603030804020204" pitchFamily="34" charset="-78"/>
                <a:cs typeface="Shabnam" panose="020B0603030804020204" pitchFamily="34" charset="-78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Shabnam" panose="020B0603030804020204" pitchFamily="34" charset="-78"/>
                <a:cs typeface="Shabnam" panose="020B0603030804020204" pitchFamily="34" charset="-78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cs typeface="B Titr" panose="00000700000000000000" pitchFamily="2" charset="-7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Shabnam" panose="020B0603030804020204" pitchFamily="34" charset="-78"/>
                <a:cs typeface="Shabnam" panose="020B0603030804020204" pitchFamily="34" charset="-78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cs typeface="B Titr" panose="00000700000000000000" pitchFamily="2" charset="-78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cs typeface="B Titr" panose="00000700000000000000" pitchFamily="2" charset="-78"/>
            </a:endParaRPr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cs typeface="B Titr" panose="00000700000000000000" pitchFamily="2" charset="-7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Shabnam" panose="020B0603030804020204" pitchFamily="34" charset="-78"/>
                <a:cs typeface="Shabnam" panose="020B0603030804020204" pitchFamily="34" charset="-78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Shabnam" panose="020B0603030804020204" pitchFamily="34" charset="-78"/>
                <a:cs typeface="Shabnam" panose="020B0603030804020204" pitchFamily="34" charset="-78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Shabnam" panose="020B0603030804020204" pitchFamily="34" charset="-78"/>
                <a:cs typeface="Shabnam" panose="020B0603030804020204" pitchFamily="34" charset="-78"/>
              </a:defRPr>
            </a:lvl1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cs typeface="B Titr" panose="00000700000000000000" pitchFamily="2" charset="-78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latin typeface="Shabnam" panose="020B0603030804020204" pitchFamily="34" charset="-78"/>
                <a:cs typeface="Shabnam" panose="020B0603030804020204" pitchFamily="34" charset="-78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5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B Titr" panose="00000700000000000000" pitchFamily="2" charset="-78"/>
          <a:cs typeface="B Titr" panose="00000700000000000000" pitchFamily="2" charset="-7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Shabnam" panose="020B0603030804020204" pitchFamily="34" charset="-78"/>
          <a:ea typeface="Shabnam" panose="020B0603030804020204" pitchFamily="34" charset="-78"/>
          <a:cs typeface="Shabnam" panose="020B0603030804020204" pitchFamily="34" charset="-78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4B72641C-7904-27FC-4B03-B9738D08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6C3DDC9-EF15-EDA6-9D3D-65F50105FAD4}"/>
              </a:ext>
            </a:extLst>
          </p:cNvPr>
          <p:cNvSpPr txBox="1"/>
          <p:nvPr/>
        </p:nvSpPr>
        <p:spPr>
          <a:xfrm>
            <a:off x="1394127" y="2115361"/>
            <a:ext cx="5910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3600" b="1" dirty="0">
                <a:cs typeface="B Nazanin" panose="00000400000000000000" pitchFamily="2" charset="-78"/>
              </a:rPr>
              <a:t>انواع الگوریتم‌های تکاملی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B14A15-4EF7-E986-00B6-9977D137D465}"/>
              </a:ext>
            </a:extLst>
          </p:cNvPr>
          <p:cNvSpPr txBox="1"/>
          <p:nvPr/>
        </p:nvSpPr>
        <p:spPr>
          <a:xfrm>
            <a:off x="3576397" y="490701"/>
            <a:ext cx="1361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000" dirty="0">
                <a:solidFill>
                  <a:schemeClr val="tx2"/>
                </a:solidFill>
                <a:latin typeface="IranNastaliq" panose="02000503000000020003" pitchFamily="2" charset="0"/>
                <a:cs typeface="IranNastaliq" panose="02000503000000020003" pitchFamily="2" charset="0"/>
              </a:rPr>
              <a:t>بسمه تعالی</a:t>
            </a:r>
            <a:endParaRPr lang="en-US" sz="2000" dirty="0">
              <a:solidFill>
                <a:schemeClr val="tx2"/>
              </a:solidFill>
              <a:latin typeface="IranNastaliq" panose="02000503000000020003" pitchFamily="2" charset="0"/>
              <a:cs typeface="IranNastaliq" panose="02000503000000020003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D110AE-2EBF-5A2B-D669-12DC64EAC14C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49645-2532-C763-8C95-82DE22FC7CE7}"/>
              </a:ext>
            </a:extLst>
          </p:cNvPr>
          <p:cNvSpPr txBox="1"/>
          <p:nvPr/>
        </p:nvSpPr>
        <p:spPr>
          <a:xfrm>
            <a:off x="2550160" y="2970672"/>
            <a:ext cx="4043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chemeClr val="accent3"/>
                </a:solidFill>
                <a:effectLst/>
                <a:latin typeface="Estedad"/>
              </a:rPr>
              <a:t>Evolutionary Algorithms</a:t>
            </a:r>
            <a:endParaRPr lang="en-US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70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4B72641C-7904-27FC-4B03-B9738D08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0D110AE-2EBF-5A2B-D669-12DC64EAC14C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3BC7A3-02FA-AA99-74C9-B518102A5A9B}"/>
              </a:ext>
            </a:extLst>
          </p:cNvPr>
          <p:cNvSpPr txBox="1"/>
          <p:nvPr/>
        </p:nvSpPr>
        <p:spPr>
          <a:xfrm>
            <a:off x="1640113" y="273426"/>
            <a:ext cx="60729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chemeClr val="bg1"/>
                </a:solidFill>
                <a:effectLst/>
                <a:latin typeface="Estedad"/>
              </a:rPr>
              <a:t>Evolutionary Algorithms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047CBC-C132-3E36-82B3-0C81DFC21C34}"/>
              </a:ext>
            </a:extLst>
          </p:cNvPr>
          <p:cNvSpPr txBox="1"/>
          <p:nvPr/>
        </p:nvSpPr>
        <p:spPr>
          <a:xfrm>
            <a:off x="301422" y="832855"/>
            <a:ext cx="6451600" cy="391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 Genetic Algorithm (GA)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 — </a:t>
            </a:r>
            <a:r>
              <a:rPr lang="fa-IR" b="0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الگوریتم ژنتیک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Grey Wolf Optimization(GWO) – </a:t>
            </a:r>
            <a:r>
              <a:rPr lang="fa-IR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الگوریتم گرگ خاکستری</a:t>
            </a:r>
            <a:endParaRPr lang="fa-IR" b="0" i="0" dirty="0">
              <a:solidFill>
                <a:srgbClr val="0F1115"/>
              </a:solidFill>
              <a:effectLst/>
              <a:latin typeface="Estedad"/>
              <a:cs typeface="B Nazanin" panose="00000400000000000000" pitchFamily="2" charset="-78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 </a:t>
            </a:r>
            <a:r>
              <a:rPr lang="en-US" b="1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Bat algorithm</a:t>
            </a:r>
            <a:r>
              <a:rPr lang="fa-IR" b="1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 </a:t>
            </a:r>
            <a:r>
              <a:rPr lang="fa-IR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الگوریتم خفاش-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Estedad"/>
              </a:rPr>
              <a:t>Gorilla Troops Optimizer(GTO)</a:t>
            </a:r>
            <a:r>
              <a:rPr lang="fa-IR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 الگوریتم گوریل-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Firefly Algorithm(FA)</a:t>
            </a:r>
            <a:r>
              <a:rPr lang="fa-IR" b="1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  </a:t>
            </a:r>
            <a:r>
              <a:rPr lang="fa-IR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الگوریتم کرم شب تاب</a:t>
            </a:r>
            <a:r>
              <a:rPr lang="fa-IR" b="1" dirty="0">
                <a:solidFill>
                  <a:srgbClr val="0F1115"/>
                </a:solidFill>
                <a:latin typeface="Estedad"/>
                <a:cs typeface="B Nazanin" panose="00000400000000000000" pitchFamily="2" charset="-78"/>
              </a:rPr>
              <a:t>-</a:t>
            </a:r>
            <a:endParaRPr lang="en-US" b="1" dirty="0">
              <a:solidFill>
                <a:srgbClr val="0F1115"/>
              </a:solidFill>
              <a:latin typeface="Estedad"/>
              <a:cs typeface="B Nazanin" panose="00000400000000000000" pitchFamily="2" charset="-78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Estedad"/>
                <a:cs typeface="B Nazanin" panose="00000400000000000000" pitchFamily="2" charset="-78"/>
              </a:rPr>
              <a:t>Honey Bee Algorithm (HBA)- </a:t>
            </a:r>
            <a:r>
              <a:rPr lang="fa-IR" dirty="0">
                <a:latin typeface="Estedad"/>
                <a:cs typeface="B Nazanin" panose="00000400000000000000" pitchFamily="2" charset="-78"/>
              </a:rPr>
              <a:t>الگوریتم زنبور عسل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Estedad"/>
                <a:cs typeface="B Nazanin" panose="00000400000000000000" pitchFamily="2" charset="-78"/>
              </a:rPr>
              <a:t>Lion Optimization Algorithm (LOA</a:t>
            </a:r>
            <a:r>
              <a:rPr lang="en-US" dirty="0">
                <a:latin typeface="Estedad"/>
                <a:cs typeface="B Nazanin" panose="00000400000000000000" pitchFamily="2" charset="-78"/>
              </a:rPr>
              <a:t>)</a:t>
            </a:r>
            <a:r>
              <a:rPr lang="fa-IR" dirty="0">
                <a:latin typeface="Estedad"/>
                <a:cs typeface="B Nazanin" panose="00000400000000000000" pitchFamily="2" charset="-78"/>
              </a:rPr>
              <a:t>  الگوریتم بهینه سازی شیر-</a:t>
            </a:r>
            <a:endParaRPr lang="fa-IR" i="0" dirty="0">
              <a:solidFill>
                <a:srgbClr val="0F1115"/>
              </a:solidFill>
              <a:effectLst/>
              <a:latin typeface="Estedad"/>
              <a:cs typeface="B Nazanin" panose="00000400000000000000" pitchFamily="2" charset="-78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Estedad"/>
              </a:rPr>
              <a:t>Ant Colony Optimization (ACO)</a:t>
            </a:r>
            <a:r>
              <a:rPr lang="fa-IR" dirty="0">
                <a:latin typeface="Estedad"/>
                <a:cs typeface="B Nazanin" panose="00000400000000000000" pitchFamily="2" charset="-78"/>
              </a:rPr>
              <a:t> الگوریتم بهینه سازی کلونی مورچه-</a:t>
            </a:r>
            <a:endParaRPr lang="fa-IR" b="1" i="0" dirty="0">
              <a:solidFill>
                <a:srgbClr val="0F1115"/>
              </a:solidFill>
              <a:effectLst/>
              <a:latin typeface="Estedad"/>
              <a:cs typeface="B Nazanin" panose="00000400000000000000" pitchFamily="2" charset="-78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Whale Optimization Algorithm (WOA)</a:t>
            </a:r>
            <a:r>
              <a:rPr lang="fa-IR" b="1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-</a:t>
            </a:r>
            <a:r>
              <a:rPr lang="en-US" b="1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 </a:t>
            </a:r>
            <a:r>
              <a:rPr lang="fa-IR" i="0" dirty="0">
                <a:solidFill>
                  <a:srgbClr val="0F1115"/>
                </a:solidFill>
                <a:effectLst/>
                <a:latin typeface="Estedad"/>
                <a:cs typeface="B Nazanin" panose="00000400000000000000" pitchFamily="2" charset="-78"/>
              </a:rPr>
              <a:t>الگوریتم بهینه سازی وال یا نهنگ</a:t>
            </a:r>
          </a:p>
        </p:txBody>
      </p:sp>
    </p:spTree>
    <p:extLst>
      <p:ext uri="{BB962C8B-B14F-4D97-AF65-F5344CB8AC3E}">
        <p14:creationId xmlns:p14="http://schemas.microsoft.com/office/powerpoint/2010/main" val="110979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747C661E-4BDA-4A5A-073C-C99267E8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E2D64580-DBE6-97B9-D5E8-3FE97BD8BFA5}"/>
              </a:ext>
            </a:extLst>
          </p:cNvPr>
          <p:cNvSpPr txBox="1"/>
          <p:nvPr/>
        </p:nvSpPr>
        <p:spPr>
          <a:xfrm>
            <a:off x="5555674" y="424450"/>
            <a:ext cx="2571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a-IR" sz="2400" b="1" dirty="0">
                <a:solidFill>
                  <a:schemeClr val="bg1"/>
                </a:solidFill>
                <a:cs typeface="B Nazanin" panose="00000400000000000000" pitchFamily="2" charset="-78"/>
              </a:rPr>
              <a:t>الگوریتم های تکاملی</a:t>
            </a:r>
            <a:endParaRPr lang="en-US" sz="2400" b="1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59498-E780-40A0-EF74-FC0D432A0569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97C1B-10C2-FBE3-FCD0-2786CA79B94E}"/>
              </a:ext>
            </a:extLst>
          </p:cNvPr>
          <p:cNvSpPr txBox="1"/>
          <p:nvPr/>
        </p:nvSpPr>
        <p:spPr>
          <a:xfrm>
            <a:off x="1607127" y="440097"/>
            <a:ext cx="32904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Arial Black" panose="020B0A04020102020204" pitchFamily="34" charset="0"/>
              </a:rPr>
              <a:t>Evolutionary Algorithms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0E685-600A-609B-B10F-AAF178A72C95}"/>
              </a:ext>
            </a:extLst>
          </p:cNvPr>
          <p:cNvSpPr txBox="1"/>
          <p:nvPr/>
        </p:nvSpPr>
        <p:spPr>
          <a:xfrm>
            <a:off x="613229" y="1750318"/>
            <a:ext cx="8146143" cy="174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002060"/>
                </a:solidFill>
              </a:rPr>
              <a:t>Evolutionary Algorithms (EAs) are a family of stochastic, population-based optimization and search algorithms inspired by biological evolution. They are used when the objective function is nonlinear, non-differentiable, noisy, discontinuous, or defined over complex discrete/continuous spaces.</a:t>
            </a:r>
          </a:p>
          <a:p>
            <a:pPr>
              <a:lnSpc>
                <a:spcPct val="200000"/>
              </a:lnSpc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3D0EA-3D10-3FBC-903A-2D3ACA6D1CDF}"/>
              </a:ext>
            </a:extLst>
          </p:cNvPr>
          <p:cNvSpPr txBox="1"/>
          <p:nvPr/>
        </p:nvSpPr>
        <p:spPr>
          <a:xfrm>
            <a:off x="613229" y="3210375"/>
            <a:ext cx="7751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chemeClr val="accent2">
                    <a:lumMod val="50000"/>
                  </a:schemeClr>
                </a:solidFill>
              </a:rPr>
              <a:t>Evolutionary algorithms are a class of algorithms that mimic the genetic improvements of human beings or the natural behavior of animals.</a:t>
            </a:r>
          </a:p>
        </p:txBody>
      </p:sp>
    </p:spTree>
    <p:extLst>
      <p:ext uri="{BB962C8B-B14F-4D97-AF65-F5344CB8AC3E}">
        <p14:creationId xmlns:p14="http://schemas.microsoft.com/office/powerpoint/2010/main" val="394397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A57227D-E673-2499-86B2-BF3E36C2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939DFF87-ED22-CAC4-167B-6593AB85B8FC}"/>
              </a:ext>
            </a:extLst>
          </p:cNvPr>
          <p:cNvSpPr txBox="1"/>
          <p:nvPr/>
        </p:nvSpPr>
        <p:spPr>
          <a:xfrm>
            <a:off x="1561737" y="342758"/>
            <a:ext cx="24659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FFFF00"/>
                </a:solidFill>
                <a:effectLst/>
                <a:latin typeface="Estedad"/>
              </a:rPr>
              <a:t>Core Idea?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EDC1B4-8BC8-8D2B-0207-EC32A165D0EC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E8E39-8F56-593F-14BA-80A1FBD034A5}"/>
              </a:ext>
            </a:extLst>
          </p:cNvPr>
          <p:cNvSpPr txBox="1"/>
          <p:nvPr/>
        </p:nvSpPr>
        <p:spPr>
          <a:xfrm>
            <a:off x="704184" y="1330198"/>
            <a:ext cx="2888102" cy="30777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Given an optimization problem:</a:t>
            </a:r>
            <a:endParaRPr lang="fa-I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748C62-6C07-7974-4C25-45FC07A449CD}"/>
              </a:ext>
            </a:extLst>
          </p:cNvPr>
          <p:cNvSpPr txBox="1"/>
          <p:nvPr/>
        </p:nvSpPr>
        <p:spPr>
          <a:xfrm>
            <a:off x="704184" y="1803820"/>
            <a:ext cx="4572000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an EA maintains a population of candidate solutions</a:t>
            </a:r>
            <a:endParaRPr lang="fa-I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E379C6-81C2-E93F-A922-EE6382ACDAAC}"/>
              </a:ext>
            </a:extLst>
          </p:cNvPr>
          <p:cNvSpPr txBox="1"/>
          <p:nvPr/>
        </p:nvSpPr>
        <p:spPr>
          <a:xfrm>
            <a:off x="704184" y="2263973"/>
            <a:ext cx="4572000" cy="3077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 and repeatedly applies</a:t>
            </a:r>
            <a:endParaRPr lang="fa-I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C91506-C5A1-B1AB-E686-FE0763CFD3B1}"/>
              </a:ext>
            </a:extLst>
          </p:cNvPr>
          <p:cNvSpPr txBox="1"/>
          <p:nvPr/>
        </p:nvSpPr>
        <p:spPr>
          <a:xfrm>
            <a:off x="1937173" y="2664841"/>
            <a:ext cx="4572000" cy="19913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f(x) Evaluation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— compute fitness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Selection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— choose better individuals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Variation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— crossover and/or mutation</a:t>
            </a:r>
            <a:endParaRPr lang="en-US" dirty="0">
              <a:solidFill>
                <a:srgbClr val="0F1115"/>
              </a:solidFill>
              <a:latin typeface="Estedad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Replacement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— form the next generation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Termination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— stop when a criterion is met</a:t>
            </a:r>
            <a:br>
              <a:rPr lang="en-US" dirty="0"/>
            </a:b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143356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8563E8C-462D-49DC-3AD7-4F980F38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DEE52-6FEA-2855-43DA-B9FAB066A0BD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02F86-E2F3-56AE-3A5B-E3FA67F0EE0D}"/>
              </a:ext>
            </a:extLst>
          </p:cNvPr>
          <p:cNvSpPr txBox="1"/>
          <p:nvPr/>
        </p:nvSpPr>
        <p:spPr>
          <a:xfrm>
            <a:off x="1537855" y="33629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00"/>
                </a:solidFill>
                <a:effectLst/>
                <a:latin typeface="Estedad"/>
              </a:rPr>
              <a:t>Single-Objective Optimisation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22932D-8A73-87E2-32AD-5D14FB658774}"/>
              </a:ext>
            </a:extLst>
          </p:cNvPr>
          <p:cNvSpPr txBox="1"/>
          <p:nvPr/>
        </p:nvSpPr>
        <p:spPr>
          <a:xfrm>
            <a:off x="384628" y="1500518"/>
            <a:ext cx="7794172" cy="1154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chemeClr val="accent3">
                    <a:lumMod val="50000"/>
                  </a:schemeClr>
                </a:solidFill>
                <a:effectLst/>
                <a:latin typeface="Estedad"/>
              </a:rPr>
              <a:t>Single-objective </a:t>
            </a:r>
            <a:r>
              <a:rPr lang="en-US" sz="1600" b="0" i="0" dirty="0" err="1">
                <a:solidFill>
                  <a:schemeClr val="accent3">
                    <a:lumMod val="50000"/>
                  </a:schemeClr>
                </a:solidFill>
                <a:effectLst/>
                <a:latin typeface="Estedad"/>
              </a:rPr>
              <a:t>optimisation</a:t>
            </a:r>
            <a:r>
              <a:rPr lang="en-US" sz="1600" b="0" i="0" dirty="0">
                <a:solidFill>
                  <a:schemeClr val="accent3">
                    <a:lumMod val="50000"/>
                  </a:schemeClr>
                </a:solidFill>
                <a:effectLst/>
                <a:latin typeface="Estedad"/>
              </a:rPr>
              <a:t> refers to the process of finding the best possible solution for a problem that has only one objective function to be </a:t>
            </a:r>
            <a:r>
              <a:rPr lang="en-US" sz="1600" b="0" i="0" dirty="0" err="1">
                <a:solidFill>
                  <a:schemeClr val="accent3">
                    <a:lumMod val="50000"/>
                  </a:schemeClr>
                </a:solidFill>
                <a:effectLst/>
                <a:latin typeface="Estedad"/>
              </a:rPr>
              <a:t>minimised</a:t>
            </a:r>
            <a:r>
              <a:rPr lang="en-US" sz="1600" b="0" i="0" dirty="0">
                <a:solidFill>
                  <a:schemeClr val="accent3">
                    <a:lumMod val="50000"/>
                  </a:schemeClr>
                </a:solidFill>
                <a:effectLst/>
                <a:latin typeface="Estedad"/>
              </a:rPr>
              <a:t> or </a:t>
            </a:r>
            <a:r>
              <a:rPr lang="en-US" sz="1600" b="0" i="0" dirty="0" err="1">
                <a:solidFill>
                  <a:schemeClr val="accent3">
                    <a:lumMod val="50000"/>
                  </a:schemeClr>
                </a:solidFill>
                <a:effectLst/>
                <a:latin typeface="Estedad"/>
              </a:rPr>
              <a:t>maximised</a:t>
            </a:r>
            <a:r>
              <a:rPr lang="en-US" sz="1600" b="0" i="0" dirty="0">
                <a:solidFill>
                  <a:schemeClr val="accent3">
                    <a:lumMod val="50000"/>
                  </a:schemeClr>
                </a:solidFill>
                <a:effectLst/>
                <a:latin typeface="Estedad"/>
              </a:rPr>
              <a:t>.</a:t>
            </a:r>
            <a:br>
              <a:rPr lang="en-US" sz="1600" dirty="0">
                <a:solidFill>
                  <a:schemeClr val="accent3">
                    <a:lumMod val="50000"/>
                  </a:schemeClr>
                </a:solidFill>
              </a:rPr>
            </a:br>
            <a:endParaRPr lang="fa-IR" sz="1600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A2C225-555C-F4A2-5ABF-2B7538E80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600" y="2434850"/>
            <a:ext cx="4042786" cy="184579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505EA1-14DF-60C9-C498-0ECEADE78AD1}"/>
              </a:ext>
            </a:extLst>
          </p:cNvPr>
          <p:cNvSpPr txBox="1"/>
          <p:nvPr/>
        </p:nvSpPr>
        <p:spPr>
          <a:xfrm>
            <a:off x="638628" y="4280647"/>
            <a:ext cx="72644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baseline="0" dirty="0">
                <a:latin typeface="FycxdcTvvstlRtpglxTimes-Bold"/>
              </a:rPr>
              <a:t>Fig. 1.1 </a:t>
            </a:r>
            <a:r>
              <a:rPr lang="en-US" sz="1200" b="0" i="0" u="none" strike="noStrike" baseline="0" dirty="0" err="1">
                <a:latin typeface="LgltvpJftgykYrsmnlTimes-Roman"/>
              </a:rPr>
              <a:t>Threemain</a:t>
            </a:r>
            <a:r>
              <a:rPr lang="en-US" sz="1200" b="0" i="0" u="none" strike="noStrike" baseline="0" dirty="0">
                <a:latin typeface="LgltvpJftgykYrsmnlTimes-Roman"/>
              </a:rPr>
              <a:t> components of an </a:t>
            </a:r>
            <a:r>
              <a:rPr lang="en-US" sz="1200" b="0" i="0" u="none" strike="noStrike" baseline="0" dirty="0" err="1">
                <a:latin typeface="LgltvpJftgykYrsmnlTimes-Roman"/>
              </a:rPr>
              <a:t>optimisation</a:t>
            </a:r>
            <a:r>
              <a:rPr lang="en-US" sz="1200" b="0" i="0" u="none" strike="noStrike" baseline="0" dirty="0">
                <a:latin typeface="LgltvpJftgykYrsmnlTimes-Roman"/>
              </a:rPr>
              <a:t> </a:t>
            </a:r>
            <a:r>
              <a:rPr lang="en-US" sz="1200" b="0" i="0" u="none" strike="noStrike" baseline="0" dirty="0" err="1">
                <a:latin typeface="LgltvpJftgykYrsmnlTimes-Roman"/>
              </a:rPr>
              <a:t>systemwith</a:t>
            </a:r>
            <a:r>
              <a:rPr lang="en-US" sz="1200" b="0" i="0" u="none" strike="noStrike" baseline="0" dirty="0">
                <a:latin typeface="LgltvpJftgykYrsmnlTimes-Roman"/>
              </a:rPr>
              <a:t> single objective: inputs, constraints (operating conditions), and output</a:t>
            </a:r>
            <a:endParaRPr lang="fa-IR" sz="1200" dirty="0"/>
          </a:p>
        </p:txBody>
      </p:sp>
    </p:spTree>
    <p:extLst>
      <p:ext uri="{BB962C8B-B14F-4D97-AF65-F5344CB8AC3E}">
        <p14:creationId xmlns:p14="http://schemas.microsoft.com/office/powerpoint/2010/main" val="159210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8563E8C-462D-49DC-3AD7-4F980F38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DEE52-6FEA-2855-43DA-B9FAB066A0BD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02F86-E2F3-56AE-3A5B-E3FA67F0EE0D}"/>
              </a:ext>
            </a:extLst>
          </p:cNvPr>
          <p:cNvSpPr txBox="1"/>
          <p:nvPr/>
        </p:nvSpPr>
        <p:spPr>
          <a:xfrm>
            <a:off x="1537855" y="336297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FFFF00"/>
                </a:solidFill>
                <a:effectLst/>
                <a:latin typeface="Estedad"/>
              </a:rPr>
              <a:t>Single-Objective Optimisation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505EA1-14DF-60C9-C498-0ECEADE78AD1}"/>
              </a:ext>
            </a:extLst>
          </p:cNvPr>
          <p:cNvSpPr txBox="1"/>
          <p:nvPr/>
        </p:nvSpPr>
        <p:spPr>
          <a:xfrm>
            <a:off x="1937173" y="3892291"/>
            <a:ext cx="48042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 strike="noStrike" baseline="0" dirty="0">
                <a:latin typeface="FycxdcTvvstlRtpglxTimes-Bold"/>
              </a:rPr>
              <a:t>Fig. 1.2 </a:t>
            </a:r>
            <a:r>
              <a:rPr lang="en-US" sz="1200" b="0" i="0" u="none" strike="noStrike" baseline="0" dirty="0">
                <a:latin typeface="LgltvpJftgykYrsmnlTimes-Roman"/>
              </a:rPr>
              <a:t>Stochastic </a:t>
            </a:r>
            <a:r>
              <a:rPr lang="en-US" sz="1200" b="0" i="0" u="none" strike="noStrike" baseline="0" dirty="0" err="1">
                <a:latin typeface="LgltvpJftgykYrsmnlTimes-Roman"/>
              </a:rPr>
              <a:t>optimisers</a:t>
            </a:r>
            <a:r>
              <a:rPr lang="en-US" sz="1200" b="0" i="0" u="none" strike="noStrike" baseline="0" dirty="0">
                <a:latin typeface="LgltvpJftgykYrsmnlTimes-Roman"/>
              </a:rPr>
              <a:t> solve </a:t>
            </a:r>
            <a:r>
              <a:rPr lang="en-US" sz="1200" b="0" i="0" u="none" strike="noStrike" baseline="0" dirty="0" err="1">
                <a:latin typeface="LgltvpJftgykYrsmnlTimes-Roman"/>
              </a:rPr>
              <a:t>optimisation</a:t>
            </a:r>
            <a:r>
              <a:rPr lang="en-US" sz="1200" b="0" i="0" u="none" strike="noStrike" baseline="0" dirty="0">
                <a:latin typeface="LgltvpJftgykYrsmnlTimes-Roman"/>
              </a:rPr>
              <a:t> problem as a black box</a:t>
            </a:r>
            <a:endParaRPr lang="fa-IR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6D7B2E-C526-283C-566E-B5619422F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693" y="1186317"/>
            <a:ext cx="3732378" cy="2705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8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8563E8C-462D-49DC-3AD7-4F980F38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DEE52-6FEA-2855-43DA-B9FAB066A0BD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02F86-E2F3-56AE-3A5B-E3FA67F0EE0D}"/>
              </a:ext>
            </a:extLst>
          </p:cNvPr>
          <p:cNvSpPr txBox="1"/>
          <p:nvPr/>
        </p:nvSpPr>
        <p:spPr>
          <a:xfrm>
            <a:off x="1560441" y="375462"/>
            <a:ext cx="56967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FFFF00"/>
                </a:solidFill>
                <a:latin typeface="FycxdcTvvstlRtpglxTimes-Bold"/>
              </a:rPr>
              <a:t>Classification of Optimisation Algorithms</a:t>
            </a:r>
            <a:endParaRPr lang="en-US" sz="3200" b="1" dirty="0">
              <a:solidFill>
                <a:srgbClr val="FFFF00"/>
              </a:solidFill>
              <a:effectLst/>
              <a:latin typeface="Estedad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3056D4AC-F4D0-E60E-57C7-B1DECDDABADA}"/>
              </a:ext>
            </a:extLst>
          </p:cNvPr>
          <p:cNvSpPr/>
          <p:nvPr/>
        </p:nvSpPr>
        <p:spPr>
          <a:xfrm>
            <a:off x="672010" y="1388255"/>
            <a:ext cx="537028" cy="1233714"/>
          </a:xfrm>
          <a:prstGeom prst="leftBrac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3F4DDCA-C642-57E0-D451-57BA131CE8F5}"/>
              </a:ext>
            </a:extLst>
          </p:cNvPr>
          <p:cNvGrpSpPr/>
          <p:nvPr/>
        </p:nvGrpSpPr>
        <p:grpSpPr>
          <a:xfrm>
            <a:off x="1146629" y="1526349"/>
            <a:ext cx="4572000" cy="369332"/>
            <a:chOff x="1146629" y="1526349"/>
            <a:chExt cx="4572000" cy="36933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3ABC53-5FB3-6E71-BA28-4A4D159EEBF2}"/>
                </a:ext>
              </a:extLst>
            </p:cNvPr>
            <p:cNvSpPr txBox="1"/>
            <p:nvPr/>
          </p:nvSpPr>
          <p:spPr>
            <a:xfrm>
              <a:off x="1146629" y="1526349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 dirty="0">
                  <a:solidFill>
                    <a:srgbClr val="0F1115"/>
                  </a:solidFill>
                  <a:effectLst/>
                  <a:latin typeface="Estedad"/>
                </a:rPr>
                <a:t>Individual-based</a:t>
              </a:r>
              <a:endParaRPr lang="fa-IR" sz="18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0EAC7B2-51E7-F46A-0FE9-D780574F8525}"/>
                </a:ext>
              </a:extLst>
            </p:cNvPr>
            <p:cNvSpPr txBox="1"/>
            <p:nvPr/>
          </p:nvSpPr>
          <p:spPr>
            <a:xfrm>
              <a:off x="3113313" y="1557127"/>
              <a:ext cx="2256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fa-IR" sz="1600" b="1" i="0" dirty="0">
                  <a:solidFill>
                    <a:srgbClr val="0070C0"/>
                  </a:solidFill>
                  <a:effectLst/>
                  <a:latin typeface="Estedad"/>
                  <a:cs typeface="B Titr" panose="00000700000000000000" pitchFamily="2" charset="-78"/>
                </a:rPr>
                <a:t>الگوریتم‌های مبتنی بر فرد</a:t>
              </a:r>
              <a:endParaRPr lang="fa-IR" sz="1600" dirty="0">
                <a:solidFill>
                  <a:srgbClr val="0070C0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969F05-E818-342F-7302-1F80B8BC2CA8}"/>
              </a:ext>
            </a:extLst>
          </p:cNvPr>
          <p:cNvGrpSpPr/>
          <p:nvPr/>
        </p:nvGrpSpPr>
        <p:grpSpPr>
          <a:xfrm>
            <a:off x="1146629" y="1990376"/>
            <a:ext cx="4572000" cy="384068"/>
            <a:chOff x="1146629" y="1990376"/>
            <a:chExt cx="4572000" cy="3840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500A39-DBBA-6E35-180B-67106D18DB58}"/>
                </a:ext>
              </a:extLst>
            </p:cNvPr>
            <p:cNvSpPr txBox="1"/>
            <p:nvPr/>
          </p:nvSpPr>
          <p:spPr>
            <a:xfrm>
              <a:off x="1146629" y="2005112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 dirty="0">
                  <a:solidFill>
                    <a:srgbClr val="0F1115"/>
                  </a:solidFill>
                  <a:effectLst/>
                  <a:latin typeface="Estedad"/>
                </a:rPr>
                <a:t>Population-based</a:t>
              </a:r>
              <a:endParaRPr lang="fa-IR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8966344-E7C7-D12F-3C35-FA2FDB2F951D}"/>
                </a:ext>
              </a:extLst>
            </p:cNvPr>
            <p:cNvSpPr txBox="1"/>
            <p:nvPr/>
          </p:nvSpPr>
          <p:spPr>
            <a:xfrm>
              <a:off x="2750455" y="1990376"/>
              <a:ext cx="27069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fa-IR" sz="1600" b="1" i="0" dirty="0">
                  <a:solidFill>
                    <a:srgbClr val="0070C0"/>
                  </a:solidFill>
                  <a:effectLst/>
                  <a:latin typeface="Estedad"/>
                  <a:cs typeface="B Titr" panose="00000700000000000000" pitchFamily="2" charset="-78"/>
                </a:rPr>
                <a:t>الگوریتم‌های مبتنی بر جمعیت</a:t>
              </a:r>
              <a:endParaRPr lang="fa-IR" sz="1600" dirty="0">
                <a:solidFill>
                  <a:srgbClr val="0070C0"/>
                </a:solidFill>
                <a:cs typeface="B Titr" panose="00000700000000000000" pitchFamily="2" charset="-78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E5FC23-4B6D-ED56-B9E1-83AEA6304A60}"/>
              </a:ext>
            </a:extLst>
          </p:cNvPr>
          <p:cNvGrpSpPr/>
          <p:nvPr/>
        </p:nvGrpSpPr>
        <p:grpSpPr>
          <a:xfrm>
            <a:off x="4869542" y="2621969"/>
            <a:ext cx="4180114" cy="369332"/>
            <a:chOff x="1146629" y="1526349"/>
            <a:chExt cx="457200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AE1611-E85C-480A-BDFA-34AFE8A11A18}"/>
                </a:ext>
              </a:extLst>
            </p:cNvPr>
            <p:cNvSpPr txBox="1"/>
            <p:nvPr/>
          </p:nvSpPr>
          <p:spPr>
            <a:xfrm>
              <a:off x="1146629" y="1526349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 dirty="0">
                  <a:solidFill>
                    <a:srgbClr val="0F1115"/>
                  </a:solidFill>
                  <a:effectLst/>
                  <a:latin typeface="Estedad"/>
                </a:rPr>
                <a:t>Individual-based</a:t>
              </a:r>
              <a:endParaRPr lang="fa-IR" sz="18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4912E68-DBFA-D137-26C3-0E9710D776B4}"/>
                </a:ext>
              </a:extLst>
            </p:cNvPr>
            <p:cNvSpPr txBox="1"/>
            <p:nvPr/>
          </p:nvSpPr>
          <p:spPr>
            <a:xfrm>
              <a:off x="3113313" y="1557127"/>
              <a:ext cx="22569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fa-IR" sz="1600" b="1" i="0" dirty="0">
                  <a:solidFill>
                    <a:srgbClr val="0070C0"/>
                  </a:solidFill>
                  <a:effectLst/>
                  <a:latin typeface="Estedad"/>
                  <a:cs typeface="B Titr" panose="00000700000000000000" pitchFamily="2" charset="-78"/>
                </a:rPr>
                <a:t>الگوریتم‌های مبتنی بر فرد</a:t>
              </a:r>
              <a:endParaRPr lang="fa-IR" sz="1600" dirty="0">
                <a:solidFill>
                  <a:srgbClr val="0070C0"/>
                </a:solidFill>
                <a:cs typeface="B Titr" panose="00000700000000000000" pitchFamily="2" charset="-78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618F7AF-76F5-D981-3B3F-CA7B7C93A855}"/>
              </a:ext>
            </a:extLst>
          </p:cNvPr>
          <p:cNvSpPr txBox="1"/>
          <p:nvPr/>
        </p:nvSpPr>
        <p:spPr>
          <a:xfrm>
            <a:off x="2971800" y="2991301"/>
            <a:ext cx="5493657" cy="1681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با یک جواب کاندید شروع می‌کنند.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همان جواب را ارزیابی و بهبود می‌دهند تا شرط توقف برآورده شود.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1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مزیت:</a:t>
            </a:r>
            <a:r>
              <a:rPr lang="fa-IR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 نیاز به حداقل تعداد ارزیابی تابع؛ تعداد ارزیابی تابع برابر با تعداد تکرارها است.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1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عیب:</a:t>
            </a:r>
            <a:r>
              <a:rPr lang="fa-IR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 گرفتار شدن در بهینه‌های محلی (همگرایی زودرس).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یک جواب واحد به‌راحتی در مسائل چالش‌برانگیز واقعی در جواب‌های محلی گیر می‌افتد.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8DF0C6-F746-7C6B-12EC-1B64736178E5}"/>
              </a:ext>
            </a:extLst>
          </p:cNvPr>
          <p:cNvSpPr txBox="1"/>
          <p:nvPr/>
        </p:nvSpPr>
        <p:spPr>
          <a:xfrm>
            <a:off x="634998" y="3211995"/>
            <a:ext cx="2336802" cy="135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Simulated Annealing (SA)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Tabu Search (TS)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Iterated Local Search (ILS)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Hill Climbing</a:t>
            </a:r>
          </a:p>
        </p:txBody>
      </p:sp>
    </p:spTree>
    <p:extLst>
      <p:ext uri="{BB962C8B-B14F-4D97-AF65-F5344CB8AC3E}">
        <p14:creationId xmlns:p14="http://schemas.microsoft.com/office/powerpoint/2010/main" val="347811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8563E8C-462D-49DC-3AD7-4F980F38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DEE52-6FEA-2855-43DA-B9FAB066A0BD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02F86-E2F3-56AE-3A5B-E3FA67F0EE0D}"/>
              </a:ext>
            </a:extLst>
          </p:cNvPr>
          <p:cNvSpPr txBox="1"/>
          <p:nvPr/>
        </p:nvSpPr>
        <p:spPr>
          <a:xfrm>
            <a:off x="1560441" y="375462"/>
            <a:ext cx="56967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rgbClr val="FFFF00"/>
                </a:solidFill>
                <a:latin typeface="FycxdcTvvstlRtpglxTimes-Bold"/>
              </a:rPr>
              <a:t>Classification of Optimisation Algorithms…</a:t>
            </a:r>
            <a:endParaRPr lang="en-US" sz="3200" b="1" dirty="0">
              <a:solidFill>
                <a:srgbClr val="FFFF00"/>
              </a:solidFill>
              <a:effectLst/>
              <a:latin typeface="Estedad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2969F05-E818-342F-7302-1F80B8BC2CA8}"/>
              </a:ext>
            </a:extLst>
          </p:cNvPr>
          <p:cNvGrpSpPr/>
          <p:nvPr/>
        </p:nvGrpSpPr>
        <p:grpSpPr>
          <a:xfrm>
            <a:off x="4408791" y="1511609"/>
            <a:ext cx="4572000" cy="369332"/>
            <a:chOff x="1146629" y="2005112"/>
            <a:chExt cx="4572000" cy="36933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D500A39-DBBA-6E35-180B-67106D18DB58}"/>
                </a:ext>
              </a:extLst>
            </p:cNvPr>
            <p:cNvSpPr txBox="1"/>
            <p:nvPr/>
          </p:nvSpPr>
          <p:spPr>
            <a:xfrm>
              <a:off x="1146629" y="2005112"/>
              <a:ext cx="4572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0" i="0" dirty="0">
                  <a:solidFill>
                    <a:srgbClr val="0F1115"/>
                  </a:solidFill>
                  <a:effectLst/>
                  <a:latin typeface="Estedad"/>
                </a:rPr>
                <a:t>Population-based</a:t>
              </a:r>
              <a:endParaRPr lang="fa-IR" sz="18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8966344-E7C7-D12F-3C35-FA2FDB2F951D}"/>
                </a:ext>
              </a:extLst>
            </p:cNvPr>
            <p:cNvSpPr txBox="1"/>
            <p:nvPr/>
          </p:nvSpPr>
          <p:spPr>
            <a:xfrm>
              <a:off x="2445655" y="2035890"/>
              <a:ext cx="270691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rtl="1"/>
              <a:r>
                <a:rPr lang="fa-IR" sz="1600" b="1" i="0" dirty="0">
                  <a:solidFill>
                    <a:srgbClr val="0070C0"/>
                  </a:solidFill>
                  <a:effectLst/>
                  <a:latin typeface="Estedad"/>
                  <a:cs typeface="B Titr" panose="00000700000000000000" pitchFamily="2" charset="-78"/>
                </a:rPr>
                <a:t>الگوریتم‌های مبتنی بر جمعیت</a:t>
              </a:r>
              <a:endParaRPr lang="fa-IR" sz="1600" dirty="0">
                <a:solidFill>
                  <a:srgbClr val="0070C0"/>
                </a:solidFill>
                <a:cs typeface="B Titr" panose="00000700000000000000" pitchFamily="2" charset="-78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0618F7AF-76F5-D981-3B3F-CA7B7C93A855}"/>
              </a:ext>
            </a:extLst>
          </p:cNvPr>
          <p:cNvSpPr txBox="1"/>
          <p:nvPr/>
        </p:nvSpPr>
        <p:spPr>
          <a:xfrm>
            <a:off x="988786" y="2011693"/>
            <a:ext cx="6948713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از مجموعه‌ای از جواب‌های کاندید برای یافتن بهینه جهانی استفاده می‌کنند.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مزیت: کاوش بالای فضای جست‌وجو و احتمال کمتر گرفتار شدن در بهینه‌های محلی.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اگر یک جواب در بهینه محلی بیفتد، سایر جواب‌ها در تکرارهای بعدی به اجتناب از آن کمک می‌کنند.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1600" b="0" i="0" dirty="0">
                <a:solidFill>
                  <a:srgbClr val="0F1115"/>
                </a:solidFill>
                <a:effectLst/>
                <a:latin typeface="Estedad"/>
                <a:cs typeface="B Mitra" panose="00000400000000000000" pitchFamily="2" charset="-78"/>
              </a:rPr>
              <a:t>عیب: نیاز به ارزیابی‌های تابع بیشتر و هزینه محاسباتی بالاتر.</a:t>
            </a:r>
          </a:p>
          <a:p>
            <a:pPr marL="285750" indent="-285750" algn="r" rtl="1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a-IR" sz="1600" b="0" i="0" dirty="0">
              <a:solidFill>
                <a:srgbClr val="0F1115"/>
              </a:solidFill>
              <a:effectLst/>
              <a:latin typeface="Estedad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248155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8563E8C-462D-49DC-3AD7-4F980F38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FDEE52-6FEA-2855-43DA-B9FAB066A0BD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02F86-E2F3-56AE-3A5B-E3FA67F0EE0D}"/>
              </a:ext>
            </a:extLst>
          </p:cNvPr>
          <p:cNvSpPr txBox="1"/>
          <p:nvPr/>
        </p:nvSpPr>
        <p:spPr>
          <a:xfrm>
            <a:off x="1560441" y="375462"/>
            <a:ext cx="6669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solidFill>
                  <a:srgbClr val="FFFF00"/>
                </a:solidFill>
                <a:latin typeface="FycxdcTvvstlRtpglxTimes-Bold"/>
              </a:rPr>
              <a:t>Classification of Population-Based Optimisation Algorithms</a:t>
            </a:r>
            <a:endParaRPr lang="en-US" sz="2800" b="1" dirty="0">
              <a:solidFill>
                <a:srgbClr val="FFFF00"/>
              </a:solidFill>
              <a:effectLst/>
              <a:latin typeface="Estedad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18F7AF-76F5-D981-3B3F-CA7B7C93A855}"/>
              </a:ext>
            </a:extLst>
          </p:cNvPr>
          <p:cNvSpPr txBox="1"/>
          <p:nvPr/>
        </p:nvSpPr>
        <p:spPr>
          <a:xfrm>
            <a:off x="429986" y="1315007"/>
            <a:ext cx="864144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F1115"/>
                </a:solidFill>
                <a:effectLst/>
                <a:latin typeface="Estedad"/>
                <a:cs typeface="+mj-cs"/>
              </a:rPr>
              <a:t>Two main classes:</a:t>
            </a: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 Evolutionary and Swarm-based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F1115"/>
                </a:solidFill>
                <a:effectLst/>
                <a:latin typeface="Estedad"/>
                <a:cs typeface="+mj-cs"/>
              </a:rPr>
              <a:t>Evolutionary:</a:t>
            </a: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 crossover → exploitation, mutation → exploration</a:t>
            </a:r>
            <a:b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</a:b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Examples: GA, DE, ES, EP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F1115"/>
                </a:solidFill>
                <a:effectLst/>
                <a:latin typeface="Estedad"/>
                <a:cs typeface="+mj-cs"/>
              </a:rPr>
              <a:t>Swarm-based:</a:t>
            </a: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 position vectors + movement rules</a:t>
            </a:r>
            <a:b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</a:b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Examples: ACO, PSO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F1115"/>
                </a:solidFill>
                <a:effectLst/>
                <a:latin typeface="Estedad"/>
                <a:cs typeface="+mj-cs"/>
              </a:rPr>
              <a:t>Why popular:</a:t>
            </a: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 black-box, no gradients, problem-independent, simple inspiration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F1115"/>
                </a:solidFill>
                <a:effectLst/>
                <a:latin typeface="Estedad"/>
                <a:cs typeface="+mj-cs"/>
              </a:rPr>
              <a:t>Many algorithms exist:</a:t>
            </a: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 No Free Lunch (NFL) theorem — no single algorithm solves all problems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F1115"/>
                </a:solidFill>
                <a:effectLst/>
                <a:latin typeface="Estedad"/>
                <a:cs typeface="+mj-cs"/>
              </a:rPr>
              <a:t>Real-world challenges:</a:t>
            </a:r>
            <a:r>
              <a:rPr lang="en-US" sz="2000" b="0" dirty="0">
                <a:solidFill>
                  <a:srgbClr val="0F1115"/>
                </a:solidFill>
                <a:effectLst/>
                <a:latin typeface="Estedad"/>
                <a:cs typeface="+mj-cs"/>
              </a:rPr>
              <a:t> still need special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209780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0716B3D-24B8-7B5C-DA3A-F80F2EDE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372AEAB-15E8-90B9-0628-2D2EAE7D25A9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808FD-6B7E-DA23-D96A-EF598D50DB45}"/>
              </a:ext>
            </a:extLst>
          </p:cNvPr>
          <p:cNvSpPr txBox="1"/>
          <p:nvPr/>
        </p:nvSpPr>
        <p:spPr>
          <a:xfrm>
            <a:off x="1560441" y="375462"/>
            <a:ext cx="6669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Genetic Algorithm (GA)</a:t>
            </a:r>
            <a:r>
              <a:rPr lang="fa-IR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الگوریتم ژنتیک             </a:t>
            </a:r>
            <a:endParaRPr lang="en-US" sz="3600" b="1" dirty="0">
              <a:solidFill>
                <a:schemeClr val="bg1"/>
              </a:solidFill>
              <a:effectLst/>
              <a:latin typeface="Esteda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3BD148-B47B-27F3-E2EE-68045A43748E}"/>
              </a:ext>
            </a:extLst>
          </p:cNvPr>
          <p:cNvSpPr txBox="1"/>
          <p:nvPr/>
        </p:nvSpPr>
        <p:spPr>
          <a:xfrm>
            <a:off x="406400" y="1153026"/>
            <a:ext cx="8615680" cy="334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Population-based evolutionary algorithm.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Chromosome = candidate solution.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Fitness = solution quality.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Operators: selection, crossover, mutation.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Loop: init → evaluate → select → crossover → mutate → replace.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Pros: derivative-free, black-box, global search.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Cons: tuning, premature convergence, no global guarantee.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Uses: optimization, scheduling, ML, robotics.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F174DC-B1F1-B2FE-5D31-B96933E37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864" y="1590092"/>
            <a:ext cx="3498539" cy="19633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5244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F1D07E23-559B-AC54-50F1-CA980C29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C395024-14B5-FFA4-35C2-9541A5FE148E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C080A-0970-88B5-2072-9156F3973314}"/>
              </a:ext>
            </a:extLst>
          </p:cNvPr>
          <p:cNvSpPr txBox="1"/>
          <p:nvPr/>
        </p:nvSpPr>
        <p:spPr>
          <a:xfrm>
            <a:off x="1560441" y="375462"/>
            <a:ext cx="6669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Evolution Strategy (ES)                </a:t>
            </a:r>
            <a:r>
              <a:rPr lang="fa-IR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راهبرد تکامل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C2ABF-D01D-C018-2FA3-6855B9017F0A}"/>
              </a:ext>
            </a:extLst>
          </p:cNvPr>
          <p:cNvSpPr txBox="1"/>
          <p:nvPr/>
        </p:nvSpPr>
        <p:spPr>
          <a:xfrm>
            <a:off x="216747" y="1210600"/>
            <a:ext cx="8582625" cy="334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Real-valued continuous optimization.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Mutation-driven; self-adaptive step size </a:t>
            </a:r>
            <a:r>
              <a:rPr lang="el-GR" b="0" i="0" dirty="0">
                <a:solidFill>
                  <a:srgbClr val="0F1115"/>
                </a:solidFill>
                <a:effectLst/>
                <a:latin typeface="Estedad"/>
              </a:rPr>
              <a:t>σ.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Selection: (</a:t>
            </a:r>
            <a:r>
              <a:rPr lang="el-GR" b="0" i="0" dirty="0">
                <a:solidFill>
                  <a:srgbClr val="0F1115"/>
                </a:solidFill>
                <a:effectLst/>
                <a:latin typeface="Estedad"/>
              </a:rPr>
              <a:t>μ, λ) 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and (</a:t>
            </a:r>
            <a:r>
              <a:rPr lang="el-GR" b="0" i="0" dirty="0">
                <a:solidFill>
                  <a:srgbClr val="0F1115"/>
                </a:solidFill>
                <a:effectLst/>
                <a:latin typeface="Estedad"/>
              </a:rPr>
              <a:t>μ+λ).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Recombination optional.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Key variants: (1+1)-ES, CMA-ES.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Pros: derivative-free, self-adaptive, strong continuous search.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Cons: costly, tuning, local optima.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Uses: control, robotics, RL, hyperparameter tuning.</a:t>
            </a:r>
          </a:p>
        </p:txBody>
      </p:sp>
    </p:spTree>
    <p:extLst>
      <p:ext uri="{BB962C8B-B14F-4D97-AF65-F5344CB8AC3E}">
        <p14:creationId xmlns:p14="http://schemas.microsoft.com/office/powerpoint/2010/main" val="327314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BFF4301D-D172-2FE1-C0EE-A302618BC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32ED561-4B7A-CD8A-46A5-0EB2C635ED81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4D1D2-722A-ACDD-08AA-C64722A950F5}"/>
              </a:ext>
            </a:extLst>
          </p:cNvPr>
          <p:cNvSpPr txBox="1"/>
          <p:nvPr/>
        </p:nvSpPr>
        <p:spPr>
          <a:xfrm>
            <a:off x="1560441" y="375462"/>
            <a:ext cx="68452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Evolutionary Programming (EP)     </a:t>
            </a:r>
            <a:r>
              <a:rPr lang="fa-IR" sz="24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برنامه‌نویسی تکاملی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3BDB45-9909-2C95-90FB-F0F76DD1FA65}"/>
              </a:ext>
            </a:extLst>
          </p:cNvPr>
          <p:cNvSpPr txBox="1"/>
          <p:nvPr/>
        </p:nvSpPr>
        <p:spPr>
          <a:xfrm>
            <a:off x="311573" y="1177913"/>
            <a:ext cx="8554720" cy="3342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Mutation-based evolutionary algorithm.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History: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Introduced by Lawrence Fogel in the 1960s.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Representation: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Real vectors or finite state machines.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Main Operator: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Mutation only (no crossover in classic EP).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Offspring: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Each parent creates one mutated child.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Selection: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Probabilistic tournament between parents and offspring.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Variants: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Classic EP, Fast EP, Meta-EP.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Derivative-free, continuous &amp; combinatorial, parallelizable.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Costly, tuning, premature convergence, no global guarantee.</a:t>
            </a:r>
          </a:p>
          <a:p>
            <a:pPr algn="l">
              <a:lnSpc>
                <a:spcPts val="2100"/>
              </a:lnSpc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Optimization, control, neural nets, games, prediction, scheduling.</a:t>
            </a:r>
          </a:p>
        </p:txBody>
      </p:sp>
    </p:spTree>
    <p:extLst>
      <p:ext uri="{BB962C8B-B14F-4D97-AF65-F5344CB8AC3E}">
        <p14:creationId xmlns:p14="http://schemas.microsoft.com/office/powerpoint/2010/main" val="3704678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7EFF1E62-9A81-CE62-22CA-20B94ADA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4CDD352-FD69-5202-33AC-A6219EE92994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D1B7A-A7BD-421D-703B-FBF73587B621}"/>
              </a:ext>
            </a:extLst>
          </p:cNvPr>
          <p:cNvSpPr txBox="1"/>
          <p:nvPr/>
        </p:nvSpPr>
        <p:spPr>
          <a:xfrm>
            <a:off x="1560441" y="375462"/>
            <a:ext cx="71974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Genetic Programming (GP)  </a:t>
            </a:r>
            <a:r>
              <a:rPr lang="fa-IR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برنامه‌نویسی ژنتیکی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1B2A5-D918-0990-0809-243C046614AD}"/>
              </a:ext>
            </a:extLst>
          </p:cNvPr>
          <p:cNvSpPr txBox="1"/>
          <p:nvPr/>
        </p:nvSpPr>
        <p:spPr>
          <a:xfrm>
            <a:off x="260773" y="1043914"/>
            <a:ext cx="7284720" cy="3747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Evolutionary algorithm that evolves computer programs.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Representation: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Tree structures (functions + terminals).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Introduced by: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John Koza (1990s).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Main Operators: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Crossover (subtree swap), mutation (subtree/point).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Fitness: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How well a program solves the task.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Selection: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Fitness-based (tournament, roulette).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Variants: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Tree-based GP, Linear GP, Graph GP, Grammar-based GP.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Automatic program synthesis, derivative-free, interpretable.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Bloat, costly, tuning, no global guarantee.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Symbolic regression, classification, control, robotics, feature construction.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53309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4388132F-1337-E1D1-2486-F10747CF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58633DA-DEC3-14B4-5AA2-451D1BA55B5A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CA4BD-BD1F-654D-579D-7D4C45864225}"/>
              </a:ext>
            </a:extLst>
          </p:cNvPr>
          <p:cNvSpPr txBox="1"/>
          <p:nvPr/>
        </p:nvSpPr>
        <p:spPr>
          <a:xfrm>
            <a:off x="1560441" y="375462"/>
            <a:ext cx="6669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Differential Evolution (DE)      </a:t>
            </a:r>
            <a:r>
              <a:rPr lang="fa-IR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تکامل تفاضلی</a:t>
            </a:r>
            <a:r>
              <a:rPr lang="en-US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 </a:t>
            </a:r>
            <a:endParaRPr lang="fa-IR" sz="2800" b="1" dirty="0">
              <a:solidFill>
                <a:schemeClr val="bg1"/>
              </a:solidFill>
              <a:latin typeface="Estedad"/>
              <a:cs typeface="B Nazanin" panose="000004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F0E915-CC4A-17D9-ECBC-653F85717F0A}"/>
                  </a:ext>
                </a:extLst>
              </p:cNvPr>
              <p:cNvSpPr txBox="1"/>
              <p:nvPr/>
            </p:nvSpPr>
            <p:spPr>
              <a:xfrm>
                <a:off x="199812" y="1040433"/>
                <a:ext cx="3474722" cy="2282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12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800" b="1" i="0" dirty="0">
                    <a:solidFill>
                      <a:srgbClr val="0F1115"/>
                    </a:solidFill>
                    <a:effectLst/>
                    <a:latin typeface="Estedad"/>
                  </a:rPr>
                  <a:t>Definition:</a:t>
                </a:r>
                <a:r>
                  <a:rPr lang="en-US" sz="800" b="0" i="0" dirty="0">
                    <a:solidFill>
                      <a:srgbClr val="0F1115"/>
                    </a:solidFill>
                    <a:effectLst/>
                    <a:latin typeface="Estedad"/>
                  </a:rPr>
                  <a:t> Population-based evolutionary algorithm for continuous optimization.</a:t>
                </a: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800" b="1" i="0" dirty="0">
                    <a:solidFill>
                      <a:srgbClr val="0F1115"/>
                    </a:solidFill>
                    <a:effectLst/>
                    <a:latin typeface="Estedad"/>
                  </a:rPr>
                  <a:t>Representation:</a:t>
                </a:r>
                <a:r>
                  <a:rPr lang="en-US" sz="800" b="0" i="0" dirty="0">
                    <a:solidFill>
                      <a:srgbClr val="0F1115"/>
                    </a:solidFill>
                    <a:effectLst/>
                    <a:latin typeface="Estedad"/>
                  </a:rPr>
                  <a:t> Real-valued vectors.</a:t>
                </a:r>
              </a:p>
              <a:p>
                <a:pPr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800" b="1" i="0" dirty="0">
                    <a:solidFill>
                      <a:srgbClr val="0F1115"/>
                    </a:solidFill>
                    <a:effectLst/>
                    <a:latin typeface="Estedad"/>
                  </a:rPr>
                  <a:t>Key Idea:</a:t>
                </a:r>
                <a:r>
                  <a:rPr lang="en-US" sz="800" b="0" i="0" dirty="0">
                    <a:solidFill>
                      <a:srgbClr val="0F1115"/>
                    </a:solidFill>
                    <a:effectLst/>
                    <a:latin typeface="Estedad"/>
                  </a:rPr>
                  <a:t> Uses vector differences for mutation.</a:t>
                </a:r>
              </a:p>
              <a:p>
                <a:pPr algn="l">
                  <a:spcBef>
                    <a:spcPts val="450"/>
                  </a:spcBef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800" b="1" i="0" dirty="0">
                    <a:solidFill>
                      <a:srgbClr val="0F1115"/>
                    </a:solidFill>
                    <a:effectLst/>
                    <a:latin typeface="Estedad"/>
                  </a:rPr>
                  <a:t>Main Operators:</a:t>
                </a:r>
                <a:endParaRPr lang="en-US" sz="800" b="0" i="0" dirty="0">
                  <a:solidFill>
                    <a:srgbClr val="0F1115"/>
                  </a:solidFill>
                  <a:effectLst/>
                  <a:latin typeface="Estedad"/>
                </a:endParaRPr>
              </a:p>
              <a:p>
                <a:pPr marL="742950" lvl="1" indent="-285750" algn="l">
                  <a:spcBef>
                    <a:spcPts val="30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800" b="1" i="0" dirty="0">
                    <a:solidFill>
                      <a:srgbClr val="0F1115"/>
                    </a:solidFill>
                    <a:effectLst/>
                    <a:latin typeface="Estedad"/>
                  </a:rPr>
                  <a:t>Mutation:</a:t>
                </a:r>
                <a:r>
                  <a:rPr lang="en-US" sz="800" b="0" i="0" dirty="0">
                    <a:solidFill>
                      <a:srgbClr val="0F1115"/>
                    </a:solidFill>
                    <a:effectLst/>
                    <a:latin typeface="Estedad"/>
                  </a:rPr>
                  <a:t> </a:t>
                </a:r>
                <a14:m>
                  <m:oMath xmlns:m="http://schemas.openxmlformats.org/officeDocument/2006/math">
                    <m:r>
                      <a:rPr lang="en-US" sz="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8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a-IR" sz="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a-IR" sz="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a-IR" sz="800" i="1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fa-IR" sz="8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a-IR" sz="8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fa-IR" sz="8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fa-IR" sz="800" i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fa-IR" sz="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a-IR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a-IR" sz="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a-IR" sz="8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a-IR" sz="80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fa-IR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a-IR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a-IR" sz="8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fa-IR" sz="800" i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fa-IR" sz="800" b="0" i="0" dirty="0">
                  <a:solidFill>
                    <a:srgbClr val="0F1115"/>
                  </a:solidFill>
                  <a:effectLst/>
                  <a:latin typeface="Estedad"/>
                </a:endParaRPr>
              </a:p>
              <a:p>
                <a:pPr marL="742950" lvl="1" indent="-285750"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800" b="1" i="0" dirty="0">
                    <a:solidFill>
                      <a:srgbClr val="0F1115"/>
                    </a:solidFill>
                    <a:effectLst/>
                    <a:latin typeface="Estedad"/>
                  </a:rPr>
                  <a:t>Crossover:</a:t>
                </a:r>
                <a:r>
                  <a:rPr lang="en-US" sz="800" b="0" i="0" dirty="0">
                    <a:solidFill>
                      <a:srgbClr val="0F1115"/>
                    </a:solidFill>
                    <a:effectLst/>
                    <a:latin typeface="Estedad"/>
                  </a:rPr>
                  <a:t> Mix target and mutant to form trial vector.</a:t>
                </a:r>
              </a:p>
              <a:p>
                <a:pPr marL="742950" lvl="1" indent="-285750" algn="l">
                  <a:spcBef>
                    <a:spcPts val="450"/>
                  </a:spcBef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n-US" sz="800" b="1" i="0" dirty="0">
                    <a:solidFill>
                      <a:srgbClr val="0F1115"/>
                    </a:solidFill>
                    <a:effectLst/>
                    <a:latin typeface="Estedad"/>
                  </a:rPr>
                  <a:t>Selection:</a:t>
                </a:r>
                <a:r>
                  <a:rPr lang="en-US" sz="800" b="0" i="0" dirty="0">
                    <a:solidFill>
                      <a:srgbClr val="0F1115"/>
                    </a:solidFill>
                    <a:effectLst/>
                    <a:latin typeface="Estedad"/>
                  </a:rPr>
                  <a:t> Greedy; trial replaces target if better.</a:t>
                </a:r>
                <a:endParaRPr lang="en-US" sz="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EF0E915-CC4A-17D9-ECBC-653F85717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12" y="1040433"/>
                <a:ext cx="3474722" cy="2282676"/>
              </a:xfrm>
              <a:prstGeom prst="rect">
                <a:avLst/>
              </a:prstGeom>
              <a:blipFill>
                <a:blip r:embed="rId3"/>
                <a:stretch>
                  <a:fillRect b="-2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548E81E-69BA-CDF7-E40F-A02806C13BAC}"/>
              </a:ext>
            </a:extLst>
          </p:cNvPr>
          <p:cNvSpPr txBox="1"/>
          <p:nvPr/>
        </p:nvSpPr>
        <p:spPr>
          <a:xfrm>
            <a:off x="3965786" y="1040433"/>
            <a:ext cx="4746415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Parameters: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Population size (NP), mutation factor (F), crossover rate (CR).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Variants: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DE/rand/1/bin, DE/best/1/bin, DE/rand/2/bin, etc.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Simple, few parameters, robust, derivative-free.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Parameter tuning, stagnation, no global guarantee.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Function optimization, engineering design, ML hyperparameter tuning, scheduling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5AD5C-A700-158B-441D-9A43F1BDB9FE}"/>
              </a:ext>
            </a:extLst>
          </p:cNvPr>
          <p:cNvSpPr txBox="1"/>
          <p:nvPr/>
        </p:nvSpPr>
        <p:spPr>
          <a:xfrm>
            <a:off x="754819" y="3579847"/>
            <a:ext cx="828040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u="sng" dirty="0">
                <a:solidFill>
                  <a:srgbClr val="00B050"/>
                </a:solidFill>
                <a:effectLst/>
                <a:latin typeface="Estedad"/>
              </a:rPr>
              <a:t>Differential Evolution (DE) is a simple yet powerful evolutionary algorithm for continuous optimization, introduced by Storn and Price in 1995.</a:t>
            </a:r>
            <a:endParaRPr lang="en-US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35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54168072-4CE5-2037-85E6-B5183C7B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82149C6-FB90-3FEC-38BB-7A740908C58F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3D81D-A6B2-D61A-35B4-89AFEA4A81DF}"/>
              </a:ext>
            </a:extLst>
          </p:cNvPr>
          <p:cNvSpPr txBox="1"/>
          <p:nvPr/>
        </p:nvSpPr>
        <p:spPr>
          <a:xfrm>
            <a:off x="1560441" y="375462"/>
            <a:ext cx="6669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Memetic Algorithm (MA)    </a:t>
            </a:r>
            <a:r>
              <a:rPr lang="fa-IR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الگوریتم میمتیک</a:t>
            </a:r>
            <a:r>
              <a:rPr lang="en-US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 </a:t>
            </a:r>
            <a:endParaRPr lang="fa-IR" sz="2800" b="1" dirty="0">
              <a:solidFill>
                <a:schemeClr val="bg1"/>
              </a:solidFill>
              <a:latin typeface="Estedad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3C31FE-3345-584C-3BF8-207EC15956BC}"/>
              </a:ext>
            </a:extLst>
          </p:cNvPr>
          <p:cNvSpPr txBox="1"/>
          <p:nvPr/>
        </p:nvSpPr>
        <p:spPr>
          <a:xfrm>
            <a:off x="176106" y="961950"/>
            <a:ext cx="5943600" cy="2008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Evolutionary algorithm combined with local search.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Also called: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Hybrid evolutionary algorithm.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Key Idea: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Global search (evolution) + local refinement (memes).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Representation: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Problem-dependent (binary, real, permutation, tree).</a:t>
            </a:r>
          </a:p>
          <a:p>
            <a:pPr>
              <a:buNone/>
            </a:pPr>
            <a:br>
              <a:rPr lang="en-US" sz="1200" dirty="0"/>
            </a:b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E2981-A73F-5BEA-4730-3C6D4FA341B5}"/>
              </a:ext>
            </a:extLst>
          </p:cNvPr>
          <p:cNvSpPr txBox="1"/>
          <p:nvPr/>
        </p:nvSpPr>
        <p:spPr>
          <a:xfrm>
            <a:off x="176106" y="2448681"/>
            <a:ext cx="4572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Main Operators:</a:t>
            </a:r>
            <a:endParaRPr lang="en-US" b="0" i="0" dirty="0">
              <a:solidFill>
                <a:srgbClr val="0F1115"/>
              </a:solidFill>
              <a:effectLst/>
              <a:latin typeface="Estedad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Evolutionary: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selection, crossover, mutation.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Local Search: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hill climbing, simulated annealing, tabu search, etc.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Local Search Frequency: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every generation, every individual, or probabilistic.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Selection: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Fitness-based (tournament, roulette, rank).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24A7EE-86CA-3B5E-60F3-8998B41D2FD7}"/>
              </a:ext>
            </a:extLst>
          </p:cNvPr>
          <p:cNvSpPr txBox="1"/>
          <p:nvPr/>
        </p:nvSpPr>
        <p:spPr>
          <a:xfrm>
            <a:off x="4676986" y="2810319"/>
            <a:ext cx="457200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Variants: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Lamarckian, Baldwinian, hybrid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Estedad"/>
              </a:rPr>
              <a:t>GA+local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search.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Faster convergence, better exploitation, robust.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Higher computational cost, tuning, premature convergence.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TSP, scheduling, vehicle routing, engineering design, ML feature selection.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75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B2FEC721-4DDD-454E-FDE3-75D9B709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2AF6AF5-B079-F868-C9A4-5C72EEBA7D8B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BE0E2-6F33-F2EE-6A43-8B706C6DC71A}"/>
              </a:ext>
            </a:extLst>
          </p:cNvPr>
          <p:cNvSpPr txBox="1"/>
          <p:nvPr/>
        </p:nvSpPr>
        <p:spPr>
          <a:xfrm>
            <a:off x="1560441" y="375462"/>
            <a:ext cx="75835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Coevolutionary Algorithm     </a:t>
            </a:r>
            <a:r>
              <a:rPr lang="fa-IR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الگوریتم هم‌تکاملی</a:t>
            </a:r>
            <a:r>
              <a:rPr lang="en-US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 </a:t>
            </a:r>
            <a:endParaRPr lang="fa-IR" sz="2800" b="1" dirty="0">
              <a:solidFill>
                <a:schemeClr val="bg1"/>
              </a:solidFill>
              <a:latin typeface="Estedad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2CFDC-E3DA-A3FD-D375-151884960290}"/>
              </a:ext>
            </a:extLst>
          </p:cNvPr>
          <p:cNvSpPr txBox="1"/>
          <p:nvPr/>
        </p:nvSpPr>
        <p:spPr>
          <a:xfrm>
            <a:off x="2218267" y="994437"/>
            <a:ext cx="5320454" cy="165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Multiple populations evolve simultaneously, influencing each other’s fitness.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Types: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Competitive (predator-prey, host-parasite), Cooperative (problem decomposition).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Key Idea: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Fitness is relative to other species, not fixed.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Representation: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Problem-dependent; multiple species/populations.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900" b="1" i="0" dirty="0">
                <a:solidFill>
                  <a:srgbClr val="0F1115"/>
                </a:solidFill>
                <a:effectLst/>
                <a:latin typeface="Estedad"/>
              </a:rPr>
              <a:t>Main Operators:</a:t>
            </a:r>
            <a:r>
              <a:rPr lang="en-US" sz="900" b="0" i="0" dirty="0">
                <a:solidFill>
                  <a:srgbClr val="0F1115"/>
                </a:solidFill>
                <a:effectLst/>
                <a:latin typeface="Estedad"/>
              </a:rPr>
              <a:t> Standard evolutionary operators within each species.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D73C29-AABB-838C-A80C-5105F80752C2}"/>
              </a:ext>
            </a:extLst>
          </p:cNvPr>
          <p:cNvSpPr txBox="1"/>
          <p:nvPr/>
        </p:nvSpPr>
        <p:spPr>
          <a:xfrm>
            <a:off x="877148" y="2651301"/>
            <a:ext cx="4572000" cy="2198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Fitness Evaluation: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Based on interactions with other species.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Selection: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Within each species based on interaction outcomes.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Variants: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Competitive Coevolution, Cooperative Coevolution, Symbiotic.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Handles complex interactions, arms races, problem decomposition.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Complex dynamics, cycling, disengagement, tuning.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Game AI, optimization, robotics, ecosystem modeling.</a:t>
            </a:r>
          </a:p>
        </p:txBody>
      </p:sp>
    </p:spTree>
    <p:extLst>
      <p:ext uri="{BB962C8B-B14F-4D97-AF65-F5344CB8AC3E}">
        <p14:creationId xmlns:p14="http://schemas.microsoft.com/office/powerpoint/2010/main" val="232260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147E4285-F0C9-0532-3AB2-0B4F1F216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1D281C4-B767-F80E-F164-564E93C07691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6A6063-DBEA-3A8C-5425-13B3A3F2013F}"/>
              </a:ext>
            </a:extLst>
          </p:cNvPr>
          <p:cNvSpPr txBox="1"/>
          <p:nvPr/>
        </p:nvSpPr>
        <p:spPr>
          <a:xfrm>
            <a:off x="1560441" y="375462"/>
            <a:ext cx="66691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Estimation of Distribution Algorithm (EDA)      </a:t>
            </a:r>
            <a:r>
              <a:rPr lang="fa-IR" sz="1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الگوریتم تخمین توزیع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B2DA6-E900-C525-838D-B6983846CDDA}"/>
              </a:ext>
            </a:extLst>
          </p:cNvPr>
          <p:cNvSpPr txBox="1"/>
          <p:nvPr/>
        </p:nvSpPr>
        <p:spPr>
          <a:xfrm>
            <a:off x="480904" y="1185006"/>
            <a:ext cx="6669159" cy="1772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F1115"/>
                </a:solidFill>
                <a:latin typeface="Estedad"/>
              </a:rPr>
              <a:t>Definition:</a:t>
            </a:r>
            <a:r>
              <a:rPr lang="en-US" sz="1050" dirty="0">
                <a:solidFill>
                  <a:srgbClr val="0F1115"/>
                </a:solidFill>
                <a:latin typeface="Estedad"/>
              </a:rPr>
              <a:t> Evolutionary algorithm that builds and samples a probabilistic model of promising solutions.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F1115"/>
                </a:solidFill>
                <a:latin typeface="Estedad"/>
              </a:rPr>
              <a:t>Also called:</a:t>
            </a:r>
            <a:r>
              <a:rPr lang="en-US" sz="1050" dirty="0">
                <a:solidFill>
                  <a:srgbClr val="0F1115"/>
                </a:solidFill>
                <a:latin typeface="Estedad"/>
              </a:rPr>
              <a:t> Probabilistic Model-Building Genetic Algorithm (PMBGA).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F1115"/>
                </a:solidFill>
                <a:latin typeface="Estedad"/>
              </a:rPr>
              <a:t>Key Idea:</a:t>
            </a:r>
            <a:r>
              <a:rPr lang="en-US" sz="1050" dirty="0">
                <a:solidFill>
                  <a:srgbClr val="0F1115"/>
                </a:solidFill>
                <a:latin typeface="Estedad"/>
              </a:rPr>
              <a:t> No crossover or mutation; learn the distribution of good solutions and sample new ones.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F1115"/>
                </a:solidFill>
                <a:latin typeface="Estedad"/>
              </a:rPr>
              <a:t>Representation:</a:t>
            </a:r>
            <a:r>
              <a:rPr lang="en-US" sz="1050" dirty="0">
                <a:solidFill>
                  <a:srgbClr val="0F1115"/>
                </a:solidFill>
                <a:latin typeface="Estedad"/>
              </a:rPr>
              <a:t> Problem-dependent (binary, real, permutation).</a:t>
            </a:r>
          </a:p>
          <a:p>
            <a:pPr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0F1115"/>
                </a:solidFill>
                <a:latin typeface="Estedad"/>
              </a:rPr>
              <a:t>Main Steps:</a:t>
            </a:r>
            <a:r>
              <a:rPr lang="en-US" sz="1050" dirty="0">
                <a:solidFill>
                  <a:srgbClr val="0F1115"/>
                </a:solidFill>
                <a:latin typeface="Estedad"/>
              </a:rPr>
              <a:t> Initialize → Evaluate → Select → Estimate distribution → Sample new population → Repeat.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8F03E-FC2D-E198-B5EB-1CA74A363F2B}"/>
              </a:ext>
            </a:extLst>
          </p:cNvPr>
          <p:cNvSpPr txBox="1"/>
          <p:nvPr/>
        </p:nvSpPr>
        <p:spPr>
          <a:xfrm>
            <a:off x="480904" y="2974945"/>
            <a:ext cx="685800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Evolutionary algorithm that builds and samples a probabilistic model of promising solutions.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Also called: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Probabilistic Model-Building Genetic Algorithm (PMBGA).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Key Idea: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No crossover or mutation; learn the distribution of good solutions and sample new ones.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Representation: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Problem-dependent (binary, real, permutation).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050" b="1" i="0" dirty="0">
                <a:solidFill>
                  <a:srgbClr val="0F1115"/>
                </a:solidFill>
                <a:effectLst/>
                <a:latin typeface="Estedad"/>
              </a:rPr>
              <a:t>Main Steps:</a:t>
            </a:r>
            <a:r>
              <a:rPr lang="en-US" sz="1050" b="0" i="0" dirty="0">
                <a:solidFill>
                  <a:srgbClr val="0F1115"/>
                </a:solidFill>
                <a:effectLst/>
                <a:latin typeface="Estedad"/>
              </a:rPr>
              <a:t> Initialize → Evaluate → Select → Estimate distribution → Sample new population → Repeat.</a:t>
            </a:r>
          </a:p>
        </p:txBody>
      </p:sp>
    </p:spTree>
    <p:extLst>
      <p:ext uri="{BB962C8B-B14F-4D97-AF65-F5344CB8AC3E}">
        <p14:creationId xmlns:p14="http://schemas.microsoft.com/office/powerpoint/2010/main" val="206346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4710EAD9-EBB4-3217-FCEA-214224E7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A602B2B-B14A-8F59-27CD-39C97204662E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1B3FC-5B30-3BA8-EE25-8E859881E1FA}"/>
              </a:ext>
            </a:extLst>
          </p:cNvPr>
          <p:cNvSpPr txBox="1"/>
          <p:nvPr/>
        </p:nvSpPr>
        <p:spPr>
          <a:xfrm>
            <a:off x="1560441" y="375462"/>
            <a:ext cx="7143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Learning Classifier System (LCS)           </a:t>
            </a:r>
            <a:r>
              <a:rPr lang="fa-IR" sz="20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سیستم طبقه‌بند یادگیرنده</a:t>
            </a:r>
            <a:r>
              <a:rPr lang="en-US" sz="20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    </a:t>
            </a:r>
            <a:endParaRPr lang="fa-IR" sz="2000" b="1" dirty="0">
              <a:solidFill>
                <a:schemeClr val="bg1"/>
              </a:solidFill>
              <a:latin typeface="Estedad"/>
              <a:cs typeface="B Nazanin" panose="00000400000000000000" pitchFamily="2" charset="-7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0B261F-4CB6-F0FB-F16D-9A887A0394A8}"/>
              </a:ext>
            </a:extLst>
          </p:cNvPr>
          <p:cNvSpPr txBox="1"/>
          <p:nvPr/>
        </p:nvSpPr>
        <p:spPr>
          <a:xfrm>
            <a:off x="301412" y="1077678"/>
            <a:ext cx="7474373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Estedad"/>
              </a:rPr>
              <a:t> Rule-based machine learning system combining evolutionary computing and reinforcement learning.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0F1115"/>
                </a:solidFill>
                <a:effectLst/>
                <a:latin typeface="Estedad"/>
              </a:rPr>
              <a:t>Core Idea: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Estedad"/>
              </a:rPr>
              <a:t> Population of condition-action rules (classifiers) evolves to solve tasks.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0F1115"/>
                </a:solidFill>
                <a:effectLst/>
                <a:latin typeface="Estedad"/>
              </a:rPr>
              <a:t>Components: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Estedad"/>
              </a:rPr>
              <a:t> Rule (condition → action), message list, match set, action set, fitness, prediction.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0F1115"/>
                </a:solidFill>
                <a:effectLst/>
                <a:latin typeface="Estedad"/>
              </a:rPr>
              <a:t>Learning Mechanism: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Estedad"/>
              </a:rPr>
              <a:t> Credit assignment (e.g., Q-learning, profit sharing).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0F1115"/>
                </a:solidFill>
                <a:effectLst/>
                <a:latin typeface="Estedad"/>
              </a:rPr>
              <a:t>Rule Discovery:</a:t>
            </a:r>
            <a:r>
              <a:rPr lang="en-US" sz="1100" b="0" i="0" dirty="0">
                <a:solidFill>
                  <a:srgbClr val="0F1115"/>
                </a:solidFill>
                <a:effectLst/>
                <a:latin typeface="Estedad"/>
              </a:rPr>
              <a:t> Evolutionary algorithm (typically GA) evolves rules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ACE01-4324-95D8-D9FE-360774A364A7}"/>
              </a:ext>
            </a:extLst>
          </p:cNvPr>
          <p:cNvSpPr txBox="1"/>
          <p:nvPr/>
        </p:nvSpPr>
        <p:spPr>
          <a:xfrm>
            <a:off x="4683298" y="2348654"/>
            <a:ext cx="431523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Main Types:</a:t>
            </a:r>
            <a:endParaRPr lang="en-US" sz="800" b="0" i="0" dirty="0">
              <a:solidFill>
                <a:srgbClr val="0F1115"/>
              </a:solidFill>
              <a:effectLst/>
              <a:latin typeface="Estedad"/>
            </a:endParaRPr>
          </a:p>
          <a:p>
            <a:pPr marL="742950" lvl="1" indent="-285750" algn="l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Michigan-style:</a:t>
            </a:r>
            <a:r>
              <a:rPr lang="en-US" sz="800" b="0" i="0" dirty="0">
                <a:solidFill>
                  <a:srgbClr val="0F1115"/>
                </a:solidFill>
                <a:effectLst/>
                <a:latin typeface="Estedad"/>
              </a:rPr>
              <a:t> Population of rules; GA operates on individual rules.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Pittsburgh-style:</a:t>
            </a:r>
            <a:r>
              <a:rPr lang="en-US" sz="800" b="0" i="0" dirty="0">
                <a:solidFill>
                  <a:srgbClr val="0F1115"/>
                </a:solidFill>
                <a:effectLst/>
                <a:latin typeface="Estedad"/>
              </a:rPr>
              <a:t> Each individual is a complete rule set; GA operates on rule sets.</a:t>
            </a:r>
          </a:p>
          <a:p>
            <a:pPr marL="742950" lvl="1" indent="-28575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XCS:</a:t>
            </a:r>
            <a:r>
              <a:rPr lang="en-US" sz="800" b="0" i="0" dirty="0">
                <a:solidFill>
                  <a:srgbClr val="0F1115"/>
                </a:solidFill>
                <a:effectLst/>
                <a:latin typeface="Estedad"/>
              </a:rPr>
              <a:t> Accuracy-based fitness, prominent Michigan-style.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Selection:</a:t>
            </a:r>
            <a:r>
              <a:rPr lang="en-US" sz="800" b="0" i="0" dirty="0">
                <a:solidFill>
                  <a:srgbClr val="0F1115"/>
                </a:solidFill>
                <a:effectLst/>
                <a:latin typeface="Estedad"/>
              </a:rPr>
              <a:t> Fitness-based (accuracy, prediction, or both).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sz="800" b="0" i="0" dirty="0">
                <a:solidFill>
                  <a:srgbClr val="0F1115"/>
                </a:solidFill>
                <a:effectLst/>
                <a:latin typeface="Estedad"/>
              </a:rPr>
              <a:t> Interpretable, adaptive, online learning, handles sequential decision problems.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sz="800" b="0" i="0" dirty="0">
                <a:solidFill>
                  <a:srgbClr val="0F1115"/>
                </a:solidFill>
                <a:effectLst/>
                <a:latin typeface="Estedad"/>
              </a:rPr>
              <a:t> Complex, many parameters, scalability issues, no global guarantee.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sz="800" b="0" i="0" dirty="0">
                <a:solidFill>
                  <a:srgbClr val="0F1115"/>
                </a:solidFill>
                <a:effectLst/>
                <a:latin typeface="Estedad"/>
              </a:rPr>
              <a:t> Classification, data mining, robotics, control, game AI, autonomous agents.</a:t>
            </a:r>
          </a:p>
        </p:txBody>
      </p:sp>
    </p:spTree>
    <p:extLst>
      <p:ext uri="{BB962C8B-B14F-4D97-AF65-F5344CB8AC3E}">
        <p14:creationId xmlns:p14="http://schemas.microsoft.com/office/powerpoint/2010/main" val="4635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9A4DB789-1BF4-081A-A433-ABE576F13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64D8F090-2A3E-3140-CE09-BFB9294ECBCD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A1C5A-E144-60BC-E649-466221CA1EED}"/>
              </a:ext>
            </a:extLst>
          </p:cNvPr>
          <p:cNvSpPr txBox="1"/>
          <p:nvPr/>
        </p:nvSpPr>
        <p:spPr>
          <a:xfrm>
            <a:off x="1560441" y="375462"/>
            <a:ext cx="66691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Neuroevolution                          </a:t>
            </a:r>
            <a:r>
              <a:rPr lang="fa-IR" sz="28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تکامل عصبی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9FC8C5-3F33-2070-559D-5DB92F09B33E}"/>
              </a:ext>
            </a:extLst>
          </p:cNvPr>
          <p:cNvSpPr txBox="1"/>
          <p:nvPr/>
        </p:nvSpPr>
        <p:spPr>
          <a:xfrm>
            <a:off x="480904" y="973919"/>
            <a:ext cx="7280564" cy="377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Training neural networks using evolutionary algorithms instead of gradient descent.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Representation: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Weights, architecture, or both.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Key Idea: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Population of networks evolves; no backpropagation needed.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Main Operators: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Mutation, crossover, selection.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Fitness: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Task performance (accuracy, reward, error).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Variants: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Fixed-topology, NEAT,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Estedad"/>
              </a:rPr>
              <a:t>HyperNEAT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, CPPN, ES-based.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Derivative-free, explores architecture, parallel, handles RL.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Costly, tuning, scalability, no gradient guidance.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b="0" i="0" dirty="0">
                <a:solidFill>
                  <a:srgbClr val="0F1115"/>
                </a:solidFill>
                <a:effectLst/>
                <a:latin typeface="Estedad"/>
              </a:rPr>
              <a:t> Reinforcement learning, games, robotics, control, simulators.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550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CD70FF1-0709-A28A-DC77-42A12BD4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DE0EE83-3E11-4550-48F8-CB00C3F05C65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77B290-3A5C-107A-2467-8D00D4C74BEF}"/>
              </a:ext>
            </a:extLst>
          </p:cNvPr>
          <p:cNvSpPr txBox="1"/>
          <p:nvPr/>
        </p:nvSpPr>
        <p:spPr>
          <a:xfrm>
            <a:off x="1641721" y="436422"/>
            <a:ext cx="66691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Estedad"/>
                <a:cs typeface="B Nazanin" panose="00000400000000000000" pitchFamily="2" charset="-78"/>
              </a:rPr>
              <a:t> Multi-Objective Evolutionary Algorithm (MOEA)         </a:t>
            </a:r>
            <a:r>
              <a:rPr lang="fa-IR" sz="1600" b="1" dirty="0">
                <a:solidFill>
                  <a:schemeClr val="bg1"/>
                </a:solidFill>
                <a:latin typeface="Estedad"/>
                <a:cs typeface="B Nazanin" panose="00000400000000000000" pitchFamily="2" charset="-78"/>
              </a:rPr>
              <a:t>الگوریتم تکاملی چندهدفه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A9DDE-6EE3-4941-82A2-AF6973232115}"/>
              </a:ext>
            </a:extLst>
          </p:cNvPr>
          <p:cNvSpPr txBox="1"/>
          <p:nvPr/>
        </p:nvSpPr>
        <p:spPr>
          <a:xfrm>
            <a:off x="270163" y="1258968"/>
            <a:ext cx="6518564" cy="3280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Definition: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Evolutionary algorithms for problems with multiple conflicting objectives.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Goal: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Find a set of trade-off solutions (Pareto front).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Key Concepts: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Pareto dominance, Pareto optimality, Pareto front, non-dominated sorting, crowding distance.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Main Operators: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Selection (based on dominance and diversity), crossover, mutation.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Variants: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NSGA-II, SPEA2, MOEA/D, PESA-II, NSGA-III.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Pros: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Finds multiple trade-offs in one run, handles conflicting objectives, no a priori weighting.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Cons: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Computational cost, tuning, diversity maintenance, many-objective challenges.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0F1115"/>
                </a:solidFill>
                <a:effectLst/>
                <a:latin typeface="Estedad"/>
              </a:rPr>
              <a:t>Applications:</a:t>
            </a:r>
            <a:r>
              <a:rPr lang="en-US" sz="1200" b="0" i="0" dirty="0">
                <a:solidFill>
                  <a:srgbClr val="0F1115"/>
                </a:solidFill>
                <a:effectLst/>
                <a:latin typeface="Estedad"/>
              </a:rPr>
              <a:t> Engineering design, scheduling, resource allocation, ML model selection, finance.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3533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3BBA52ED-EB38-2BDB-2C6B-C614F6287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8BCD65A-AAD7-BADC-47F5-79C59C490963}"/>
              </a:ext>
            </a:extLst>
          </p:cNvPr>
          <p:cNvSpPr txBox="1"/>
          <p:nvPr/>
        </p:nvSpPr>
        <p:spPr>
          <a:xfrm>
            <a:off x="480904" y="4749312"/>
            <a:ext cx="1456269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i="0" dirty="0"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Presenter: Manouchehr Abdi</a:t>
            </a:r>
            <a:endParaRPr lang="en-US" sz="7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E324E6-3B00-61B0-EA47-15E1B9E2CCAF}"/>
              </a:ext>
            </a:extLst>
          </p:cNvPr>
          <p:cNvSpPr txBox="1"/>
          <p:nvPr/>
        </p:nvSpPr>
        <p:spPr>
          <a:xfrm>
            <a:off x="3548841" y="2310140"/>
            <a:ext cx="204631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</a:pPr>
            <a:r>
              <a:rPr lang="en-US" sz="2800" dirty="0"/>
              <a:t>Tankyou</a:t>
            </a:r>
          </a:p>
        </p:txBody>
      </p:sp>
    </p:spTree>
    <p:extLst>
      <p:ext uri="{BB962C8B-B14F-4D97-AF65-F5344CB8AC3E}">
        <p14:creationId xmlns:p14="http://schemas.microsoft.com/office/powerpoint/2010/main" val="93573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قالب پاورپوینت ماشین لرنینگ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D9D9D9"/>
      </a:lt2>
      <a:accent1>
        <a:srgbClr val="E4EA27"/>
      </a:accent1>
      <a:accent2>
        <a:srgbClr val="26EAB8"/>
      </a:accent2>
      <a:accent3>
        <a:srgbClr val="2776EA"/>
      </a:accent3>
      <a:accent4>
        <a:srgbClr val="E99B27"/>
      </a:accent4>
      <a:accent5>
        <a:srgbClr val="EA4827"/>
      </a:accent5>
      <a:accent6>
        <a:srgbClr val="8027E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3870</TotalTime>
  <Words>2007</Words>
  <Application>Microsoft Office PowerPoint</Application>
  <PresentationFormat>On-screen Show (16:9)</PresentationFormat>
  <Paragraphs>208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5" baseType="lpstr">
      <vt:lpstr>LgltvpJftgykYrsmnlTimes-Roman</vt:lpstr>
      <vt:lpstr>Roboto</vt:lpstr>
      <vt:lpstr>Shabnam</vt:lpstr>
      <vt:lpstr>Arial</vt:lpstr>
      <vt:lpstr>Cambria Math</vt:lpstr>
      <vt:lpstr>Fira Sans Extra Condensed</vt:lpstr>
      <vt:lpstr>Wingdings</vt:lpstr>
      <vt:lpstr>Estedad</vt:lpstr>
      <vt:lpstr>Arial Black</vt:lpstr>
      <vt:lpstr>IranNastaliq</vt:lpstr>
      <vt:lpstr>B Nazanin</vt:lpstr>
      <vt:lpstr>FycxdcTvvstlRtpglxTimes-Bold</vt:lpstr>
      <vt:lpstr>B Titr</vt:lpstr>
      <vt:lpstr>قالب پاورپوینت ماشین لرنینگ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قالب پاورپوینت اینفوگرافیک یادگیری ماشین</dc:title>
  <dc:creator>Mohammad</dc:creator>
  <cp:lastModifiedBy>Manouchehr Abdi</cp:lastModifiedBy>
  <cp:revision>79</cp:revision>
  <cp:lastPrinted>2026-05-17T11:28:46Z</cp:lastPrinted>
  <dcterms:modified xsi:type="dcterms:W3CDTF">2026-10-16T16:49:34Z</dcterms:modified>
</cp:coreProperties>
</file>